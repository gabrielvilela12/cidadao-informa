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Documentacao_Consolidacao_Tecnica_Cidadao_Informa.pdf, p. 1. Imagem do projeto: public/hero-dashboard-mockup.png.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PDF da Fase 5, p. 2. Imagem do projeto: public/landing-city-hero.png.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Imagem fornecida pelo usuário. Criadores: Gabriel Vilela Peixoto, RM 562125, e Luis Gustavo Rivalta, RM 561742.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PDF da Fase 5, pp. 3-4 e 11. Imagem do projeto: public/dashboard-request-visual.png.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PDF da Fase 5, pp. 1 e 5-6. Diagrama editável criado a partir da arquitetura documentada.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PDF da Fase 5, pp. 2-3 e 6. Imagem do projeto: public/new-request-category-visual.png.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PDF da Fase 5, pp. 7-8. FIFO trata jobs de IA. LIFO guarda estados anteriores dos filtros administrativos.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PDF da Fase 5, pp. 8-9. Total 703; 499 ativos; 204 concluídos; 312 atrasados; categoria Física com 352; mediana 12,85 dias; P90 22,55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PDF da Fase 5, pp. 10-11. Imagem do projeto: public/transparency-banner.jpg.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evolução baseada na conversa com o usuário. Esta funcionalidade não consta no PDF da Fase 5 e não foi apresentada como implementada. Imagem gerada para o slide: entrega-fase-5/assets/nfc-cidadao-slide.png.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PDF da Fase 5, pp. 11-12. Próximos controles extraídos da seção de riscos residuais e da conclusão.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idadao-informa.vercel.app" TargetMode="External"/><Relationship Id="rId2" Type="http://schemas.openxmlformats.org/officeDocument/2006/relationships/hyperlink" Target="https://github.com/gabrielvilela12/Cidadao-Informa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abriel\source\repos\1 - Projetos 2026\Sistema Bancário Simples\Sistema Bancário Simples\Projeto-Fiap-main\public\hero-dashboard-m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5" y="1353312"/>
            <a:ext cx="12041505" cy="5504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EAF6FA">
              <a:alpha val="97000"/>
            </a:srgbClr>
          </a:solidFill>
          <a:ln w="12700">
            <a:solidFill>
              <a:srgbClr val="EAF6F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438912"/>
            <a:ext cx="1170432" cy="54864"/>
          </a:xfrm>
          <a:prstGeom prst="rect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630936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Cidadão Informa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85800" y="119786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3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Consolidação técnica da Fase 5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931152" y="5852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HackGov para zeladoria e acessibilidade urbana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31152" y="960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Challenge EGESP   |   FIAP   | 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CIDADÃO INFORMA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1097280" cy="54864"/>
          </a:xfrm>
          <a:prstGeom prst="rect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768096"/>
            <a:ext cx="9720072" cy="0"/>
          </a:xfrm>
          <a:prstGeom prst="line">
            <a:avLst/>
          </a:prstGeom>
          <a:noFill/>
          <a:ln w="12700">
            <a:solidFill>
              <a:srgbClr val="B6D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público e resposta do sistema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865376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Ocorrências urbanas chegam por canais dispersos, com baixa padronização e pouca visibilidade sobre prioridade, localização e andamento.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23697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Cidadão Informa concentra o fluxo em um único serviço web.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6384" y="4297680"/>
            <a:ext cx="48920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50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cidadão registra o problema e acompanha o protocolo</a:t>
            </a:r>
            <a:endParaRPr lang="en-US" sz="1500" dirty="0"/>
          </a:p>
          <a:p>
            <a:r>
              <a:rPr lang="en-US" sz="150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prefeitura organiza a triagem e atualiza o atendimento</a:t>
            </a:r>
            <a:endParaRPr lang="en-US" sz="1500" dirty="0"/>
          </a:p>
          <a:p>
            <a:r>
              <a:rPr lang="en-US" sz="150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Gestores consultam mapas, relatórios e auditorias</a:t>
            </a:r>
            <a:endParaRPr lang="en-US" sz="1500" dirty="0"/>
          </a:p>
        </p:txBody>
      </p:sp>
      <p:pic>
        <p:nvPicPr>
          <p:cNvPr id="9" name="Image 0" descr="C:\Users\Gabriel\source\repos\1 - Projetos 2026\Sistema Bancário Simples\Sistema Bancário Simples\Projeto-Fiap-main\public\landing-city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017776"/>
            <a:ext cx="5330952" cy="35539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72200" y="597103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Cidadão   •   Servidor   •   Gestor municipal   •   Gestor da plataforma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329416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abriel\source\repos\1 - Projetos 2026\Sistema Bancário Simples\Sistema Bancário Simples\Projeto-Fiap-main\entrega-fase-5\assets\equipe-criad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262" y="0"/>
            <a:ext cx="889117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29416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CIDADÃO INFORMA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1097280" cy="54864"/>
          </a:xfrm>
          <a:prstGeom prst="rect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768096"/>
            <a:ext cx="9720072" cy="0"/>
          </a:xfrm>
          <a:prstGeom prst="line">
            <a:avLst/>
          </a:prstGeom>
          <a:noFill/>
          <a:ln w="12700">
            <a:solidFill>
              <a:srgbClr val="B6D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Evolução consolidada na Fase 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51663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50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 de protocolos com exclusão lógica pelo proprietário</a:t>
            </a:r>
            <a:endParaRPr lang="en-US" sz="1500" dirty="0"/>
          </a:p>
          <a:p>
            <a:r>
              <a:rPr lang="en-US" sz="150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com filtros, geolocalização, calor e agrupamentos territoriais</a:t>
            </a:r>
            <a:endParaRPr lang="en-US" sz="1500" dirty="0"/>
          </a:p>
          <a:p>
            <a:r>
              <a:rPr lang="en-US" sz="150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estatísticos, exportações e indicadores de SLA</a:t>
            </a:r>
            <a:endParaRPr lang="en-US" sz="1500" dirty="0"/>
          </a:p>
          <a:p>
            <a:r>
              <a:rPr lang="en-US" sz="150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semântico do chatbot e fila persistente para IA</a:t>
            </a:r>
            <a:endParaRPr lang="en-US" sz="1500" dirty="0"/>
          </a:p>
          <a:p>
            <a:r>
              <a:rPr lang="en-US" sz="150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acesso por perfil, prefeitura, UF e tela</a:t>
            </a:r>
            <a:endParaRPr lang="en-US" sz="1500" dirty="0"/>
          </a:p>
        </p:txBody>
      </p:sp>
      <p:pic>
        <p:nvPicPr>
          <p:cNvPr id="7" name="Image 0" descr="C:\Users\Gabriel\source\repos\1 - Projetos 2026\Sistema Bancário Simples\Sistema Bancário Simples\Projeto-Fiap-main\public\dashboard-request-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443" y="1810512"/>
            <a:ext cx="5132491" cy="2816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492861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6492240" y="5504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front-end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18388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732520" y="492861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8732520" y="55046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back-end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5925312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3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em Vercel com PostgreSQL e migrations no Supabase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29416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CIDADÃO INFORMA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1097280" cy="54864"/>
          </a:xfrm>
          <a:prstGeom prst="rect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768096"/>
            <a:ext cx="9720072" cy="0"/>
          </a:xfrm>
          <a:prstGeom prst="line">
            <a:avLst/>
          </a:prstGeom>
          <a:noFill/>
          <a:ln w="12700">
            <a:solidFill>
              <a:srgbClr val="B6D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da solução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41248" y="2450592"/>
            <a:ext cx="2286000" cy="1170432"/>
          </a:xfrm>
          <a:prstGeom prst="roundRect">
            <a:avLst>
              <a:gd name="adj" fmla="val 6250"/>
            </a:avLst>
          </a:prstGeom>
          <a:solidFill>
            <a:srgbClr val="EAF6FA"/>
          </a:solidFill>
          <a:ln w="15875">
            <a:solidFill>
              <a:srgbClr val="B6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651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e TypeScript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59936" y="2331720"/>
            <a:ext cx="2724912" cy="1417320"/>
          </a:xfrm>
          <a:prstGeom prst="roundRect">
            <a:avLst/>
          </a:prstGeom>
          <a:solidFill>
            <a:srgbClr val="004D7A"/>
          </a:solidFill>
          <a:ln w="12700">
            <a:solidFill>
              <a:srgbClr val="004D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25877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Java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70832" y="304495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Boot, JWT e regras de negócio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36992" y="1737360"/>
            <a:ext cx="3127248" cy="1115568"/>
          </a:xfrm>
          <a:prstGeom prst="roundRect">
            <a:avLst/>
          </a:prstGeom>
          <a:solidFill>
            <a:srgbClr val="E7F7ED"/>
          </a:solidFill>
          <a:ln w="15875">
            <a:solidFill>
              <a:srgbClr val="229D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93852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57032" y="2350008"/>
            <a:ext cx="2487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e Flyway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36992" y="3474720"/>
            <a:ext cx="3127248" cy="1115568"/>
          </a:xfrm>
          <a:prstGeom prst="roundRect">
            <a:avLst/>
          </a:prstGeom>
          <a:solidFill>
            <a:srgbClr val="FFF7D4"/>
          </a:solidFill>
          <a:ln w="15875">
            <a:solidFill>
              <a:srgbClr val="FFC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367588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Functions e IA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57032" y="4087368"/>
            <a:ext cx="2487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Triagem, imagem e chatbot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127248" y="3035808"/>
            <a:ext cx="932688" cy="0"/>
          </a:xfrm>
          <a:prstGeom prst="line">
            <a:avLst/>
          </a:prstGeom>
          <a:noFill/>
          <a:ln w="31750">
            <a:solidFill>
              <a:srgbClr val="005C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84848" y="3035808"/>
            <a:ext cx="621792" cy="0"/>
          </a:xfrm>
          <a:prstGeom prst="line">
            <a:avLst/>
          </a:prstGeom>
          <a:noFill/>
          <a:ln w="31750">
            <a:solidFill>
              <a:srgbClr val="005C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2295144"/>
            <a:ext cx="0" cy="1737360"/>
          </a:xfrm>
          <a:prstGeom prst="line">
            <a:avLst/>
          </a:prstGeom>
          <a:noFill/>
          <a:ln w="31750">
            <a:solidFill>
              <a:srgbClr val="005C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2295144"/>
            <a:ext cx="530352" cy="0"/>
          </a:xfrm>
          <a:prstGeom prst="line">
            <a:avLst/>
          </a:prstGeom>
          <a:noFill/>
          <a:ln w="31750">
            <a:solidFill>
              <a:srgbClr val="005C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06640" y="4032504"/>
            <a:ext cx="530352" cy="0"/>
          </a:xfrm>
          <a:prstGeom prst="line">
            <a:avLst/>
          </a:prstGeom>
          <a:noFill/>
          <a:ln w="31750">
            <a:solidFill>
              <a:srgbClr val="005CC4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191256" y="2633472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+ JWT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5175504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front-end não recebe credenciais do banco ou das funções administrativas.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2514600" y="5687568"/>
            <a:ext cx="715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publica a interface e encaminha /api/* para o serviço Java.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29416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CIDADÃO INFORMA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1097280" cy="54864"/>
          </a:xfrm>
          <a:prstGeom prst="rect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768096"/>
            <a:ext cx="9720072" cy="0"/>
          </a:xfrm>
          <a:prstGeom prst="line">
            <a:avLst/>
          </a:prstGeom>
          <a:noFill/>
          <a:ln w="12700">
            <a:solidFill>
              <a:srgbClr val="B6D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do cidadão até o atendimento</a:t>
            </a:r>
            <a:endParaRPr lang="en-US" sz="2800" dirty="0"/>
          </a:p>
        </p:txBody>
      </p:sp>
      <p:pic>
        <p:nvPicPr>
          <p:cNvPr id="6" name="Image 0" descr="C:\Users\Gabriel\source\repos\1 - Projetos 2026\Sistema Bancário Simples\Sistema Bancário Simples\Projeto-Fiap-main\public\new-request-category-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68652"/>
            <a:ext cx="5330952" cy="35539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01384" y="1828800"/>
            <a:ext cx="429768" cy="429768"/>
          </a:xfrm>
          <a:prstGeom prst="ellipse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1384" y="1847088"/>
            <a:ext cx="429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41464" y="1819656"/>
            <a:ext cx="4142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e localização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41464" y="2176272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cidadão entra no site e informa o local da ocorrência.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01384" y="2907792"/>
            <a:ext cx="429768" cy="429768"/>
          </a:xfrm>
          <a:prstGeom prst="ellipse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1384" y="2926080"/>
            <a:ext cx="429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41464" y="2898648"/>
            <a:ext cx="4142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do protocolo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41464" y="3255264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Categoria, descrição, coordenadas e até quatro imagens.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501384" y="3986784"/>
            <a:ext cx="429768" cy="429768"/>
          </a:xfrm>
          <a:prstGeom prst="ellipse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01384" y="4005072"/>
            <a:ext cx="429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141464" y="3977640"/>
            <a:ext cx="4142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Triagem apoiada por IA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41464" y="4334256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API cria o job e registra a prioridade sugerida.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01384" y="5065776"/>
            <a:ext cx="429768" cy="429768"/>
          </a:xfrm>
          <a:prstGeom prst="ellipse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01384" y="5084064"/>
            <a:ext cx="429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141464" y="5056632"/>
            <a:ext cx="4142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rastreável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141464" y="5413248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custo e revisão humana geram eventos de auditoria.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329416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CIDADÃO INFORMA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1097280" cy="54864"/>
          </a:xfrm>
          <a:prstGeom prst="rect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768096"/>
            <a:ext cx="9720072" cy="0"/>
          </a:xfrm>
          <a:prstGeom prst="line">
            <a:avLst/>
          </a:prstGeom>
          <a:noFill/>
          <a:ln w="12700">
            <a:solidFill>
              <a:srgbClr val="B6D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Fila FIFO e pilha LIFO em produção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89904" y="1755648"/>
            <a:ext cx="0" cy="4242816"/>
          </a:xfrm>
          <a:prstGeom prst="line">
            <a:avLst/>
          </a:prstGeom>
          <a:noFill/>
          <a:ln w="12700">
            <a:solidFill>
              <a:srgbClr val="B6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28800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Fila FIFO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77824" y="228600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Retentativas de classificação por 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33272" y="2999232"/>
            <a:ext cx="941832" cy="941832"/>
          </a:xfrm>
          <a:prstGeom prst="ellipse">
            <a:avLst/>
          </a:prstGeom>
          <a:solidFill>
            <a:srgbClr val="EAF6FA"/>
          </a:solidFill>
          <a:ln w="15875">
            <a:solidFill>
              <a:srgbClr val="005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3101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job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020824" y="3474720"/>
            <a:ext cx="384048" cy="0"/>
          </a:xfrm>
          <a:prstGeom prst="line">
            <a:avLst/>
          </a:prstGeom>
          <a:noFill/>
          <a:ln w="25400">
            <a:solidFill>
              <a:srgbClr val="005C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59736" y="2999232"/>
            <a:ext cx="941832" cy="941832"/>
          </a:xfrm>
          <a:prstGeom prst="ellipse">
            <a:avLst/>
          </a:prstGeom>
          <a:solidFill>
            <a:srgbClr val="EAF6FA"/>
          </a:solidFill>
          <a:ln w="15875">
            <a:solidFill>
              <a:srgbClr val="005C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33101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2º job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47288" y="3474720"/>
            <a:ext cx="384048" cy="0"/>
          </a:xfrm>
          <a:prstGeom prst="line">
            <a:avLst/>
          </a:prstGeom>
          <a:noFill/>
          <a:ln w="25400">
            <a:solidFill>
              <a:srgbClr val="005C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86200" y="2999232"/>
            <a:ext cx="941832" cy="941832"/>
          </a:xfrm>
          <a:prstGeom prst="ellipse">
            <a:avLst/>
          </a:prstGeom>
          <a:solidFill>
            <a:srgbClr val="EAF6FA"/>
          </a:solidFill>
          <a:ln w="15875">
            <a:solidFill>
              <a:srgbClr val="005C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8496" y="33101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3º job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7824" y="4315968"/>
            <a:ext cx="4471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repositório busca created_at em ordem crescente. O job mais antigo entra primeiro na nova tentativa.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824" y="5486400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cada 5 min   •   até 3 tentativas   •   últimas 24 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1828800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Pilha LIFO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0" y="228600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do botão Desfazer filtro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3017520"/>
            <a:ext cx="3054096" cy="438912"/>
          </a:xfrm>
          <a:prstGeom prst="roundRect">
            <a:avLst/>
          </a:prstGeom>
          <a:solidFill>
            <a:srgbClr val="FFF7D4"/>
          </a:solidFill>
          <a:ln w="12700">
            <a:solidFill>
              <a:srgbClr val="FFC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3528" y="309067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alteração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98080" y="3547872"/>
            <a:ext cx="3054096" cy="438912"/>
          </a:xfrm>
          <a:prstGeom prst="roundRect">
            <a:avLst/>
          </a:prstGeom>
          <a:solidFill>
            <a:srgbClr val="EAF6FA"/>
          </a:solidFill>
          <a:ln w="12700">
            <a:solidFill>
              <a:srgbClr val="B6D9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3528" y="362102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anterior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98080" y="4078224"/>
            <a:ext cx="3054096" cy="438912"/>
          </a:xfrm>
          <a:prstGeom prst="roundRect">
            <a:avLst/>
          </a:prstGeom>
          <a:solidFill>
            <a:srgbClr val="EAF6FA"/>
          </a:solidFill>
          <a:ln w="12700">
            <a:solidFill>
              <a:srgbClr val="B6D9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53528" y="4151376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inicial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808208" y="2779776"/>
            <a:ext cx="0" cy="420624"/>
          </a:xfrm>
          <a:prstGeom prst="line">
            <a:avLst/>
          </a:prstGeom>
          <a:noFill/>
          <a:ln w="25400">
            <a:solidFill>
              <a:srgbClr val="005CC4"/>
            </a:solidFill>
            <a:prstDash val="solid"/>
            <a:headEnd type="triangle"/>
          </a:ln>
        </p:spPr>
      </p:sp>
      <p:sp>
        <p:nvSpPr>
          <p:cNvPr id="28" name="Text 26"/>
          <p:cNvSpPr/>
          <p:nvPr/>
        </p:nvSpPr>
        <p:spPr>
          <a:xfrm>
            <a:off x="10881360" y="28712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59168" y="4937760"/>
            <a:ext cx="3858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última mudança sai primeiro. A pilha guarda no máximo 20 estados de filtros.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329416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CIDADÃO INFORMA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1097280" cy="54864"/>
          </a:xfrm>
          <a:prstGeom prst="rect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768096"/>
            <a:ext cx="9720072" cy="0"/>
          </a:xfrm>
          <a:prstGeom prst="line">
            <a:avLst/>
          </a:prstGeom>
          <a:noFill/>
          <a:ln w="12700">
            <a:solidFill>
              <a:srgbClr val="B6D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Indicadores da base demonstrativa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58952" y="1856232"/>
            <a:ext cx="267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703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41248" y="29992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analisados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56616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consultada em 15 de setembro de 2026. Os registros não representam dados oficiais de uma prefeitura.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1874520"/>
            <a:ext cx="6089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Situação dos protocolos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2404872"/>
            <a:ext cx="6089904" cy="356616"/>
          </a:xfrm>
          <a:prstGeom prst="rect">
            <a:avLst/>
          </a:prstGeom>
          <a:solidFill>
            <a:srgbClr val="DEE6EA"/>
          </a:solidFill>
          <a:ln w="12700">
            <a:solidFill>
              <a:srgbClr val="DEE6E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404872"/>
            <a:ext cx="4325112" cy="356616"/>
          </a:xfrm>
          <a:prstGeom prst="rect">
            <a:avLst/>
          </a:prstGeom>
          <a:solidFill>
            <a:srgbClr val="005CC4"/>
          </a:solidFill>
          <a:ln w="12700">
            <a:solidFill>
              <a:srgbClr val="005CC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24597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499 ativos  |  71%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51976" y="24597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 concluídos  |  29%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0" y="3127248"/>
            <a:ext cx="6089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 Física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0" y="3584448"/>
            <a:ext cx="6089904" cy="356616"/>
          </a:xfrm>
          <a:prstGeom prst="rect">
            <a:avLst/>
          </a:prstGeom>
          <a:solidFill>
            <a:srgbClr val="DEE6EA"/>
          </a:solidFill>
          <a:ln w="12700">
            <a:solidFill>
              <a:srgbClr val="DEE6E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3584448"/>
            <a:ext cx="3044952" cy="356616"/>
          </a:xfrm>
          <a:prstGeom prst="rect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36393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352 protocolos  |  50% da 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" y="4901184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312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758952" y="550468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atrasados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37560" y="4956048"/>
            <a:ext cx="0" cy="960120"/>
          </a:xfrm>
          <a:prstGeom prst="line">
            <a:avLst/>
          </a:prstGeom>
          <a:noFill/>
          <a:ln w="12700">
            <a:solidFill>
              <a:srgbClr val="B6D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48456" y="4901184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37%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3648456" y="550468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prazo ou próximos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27064" y="4956048"/>
            <a:ext cx="0" cy="960120"/>
          </a:xfrm>
          <a:prstGeom prst="line">
            <a:avLst/>
          </a:prstGeom>
          <a:noFill/>
          <a:ln w="12700">
            <a:solidFill>
              <a:srgbClr val="B6D9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901184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12,85 d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6537960" y="550468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 de resolução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16568" y="4956048"/>
            <a:ext cx="0" cy="960120"/>
          </a:xfrm>
          <a:prstGeom prst="line">
            <a:avLst/>
          </a:prstGeom>
          <a:noFill/>
          <a:ln w="12700">
            <a:solidFill>
              <a:srgbClr val="B6D9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27464" y="4901184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22,55 d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9427464" y="550468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P90 de resolução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29416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CIDADÃO INFORMA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85800" y="740664"/>
            <a:ext cx="1097280" cy="54864"/>
          </a:xfrm>
          <a:prstGeom prst="rect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768096"/>
            <a:ext cx="9720072" cy="0"/>
          </a:xfrm>
          <a:prstGeom prst="line">
            <a:avLst/>
          </a:prstGeom>
          <a:noFill/>
          <a:ln w="12700">
            <a:solidFill>
              <a:srgbClr val="B6D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Governança, privacidade e auditoria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86384" y="1901952"/>
            <a:ext cx="530352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5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por perfil, estabelecimento, UF e permissão de tela</a:t>
            </a:r>
            <a:endParaRPr lang="en-US" sz="1450" dirty="0"/>
          </a:p>
          <a:p>
            <a:r>
              <a:rPr lang="en-US" sz="145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DTOs públicos sem CPF, telefone, e-mail ou endereço residencial</a:t>
            </a:r>
            <a:endParaRPr lang="en-US" sz="1450" dirty="0"/>
          </a:p>
          <a:p>
            <a:r>
              <a:rPr lang="en-US" sz="145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Hashes SHA-256 para identificadores sensíveis</a:t>
            </a:r>
            <a:endParaRPr lang="en-US" sz="1450" dirty="0"/>
          </a:p>
          <a:p>
            <a:r>
              <a:rPr lang="en-US" sz="145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Cadeia encadeada para detectar alteração ou remoção de eventos</a:t>
            </a:r>
            <a:endParaRPr lang="en-US" sz="1450" dirty="0"/>
          </a:p>
          <a:p>
            <a:r>
              <a:rPr lang="en-US" sz="145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de consultas sensíveis, tentativas negadas e exportações</a:t>
            </a:r>
            <a:endParaRPr lang="en-US" sz="1450" dirty="0"/>
          </a:p>
          <a:p>
            <a:r>
              <a:rPr lang="en-US" sz="145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Exclusão lógica para preservar histórico e responsabilidade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539496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Transparência pública sem expor os dados pessoais do cidadão.</a:t>
            </a:r>
            <a:endParaRPr lang="en-US" sz="2000" dirty="0"/>
          </a:p>
        </p:txBody>
      </p:sp>
      <p:pic>
        <p:nvPicPr>
          <p:cNvPr id="8" name="Image 0" descr="C:\Users\Gabriel\source\repos\1 - Projetos 2026\Sistema Bancário Simples\Sistema Bancário Simples\Projeto-Fiap-main\public\transparency-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368" y="2185416"/>
            <a:ext cx="5129784" cy="3419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29416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abriel\source\repos\1 - Projetos 2026\Sistema Bancário Simples\Sistema Bancário Simples\Projeto-Fiap-main\entrega-fase-5\assets\nfc-cidadao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03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EVOLUÇÃO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685800" y="978408"/>
            <a:ext cx="1097280" cy="54864"/>
          </a:xfrm>
          <a:prstGeom prst="rect">
            <a:avLst/>
          </a:prstGeom>
          <a:solidFill>
            <a:srgbClr val="FFC600"/>
          </a:solidFill>
          <a:ln w="12700">
            <a:solidFill>
              <a:srgbClr val="FFC6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225296"/>
            <a:ext cx="5422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Etiquetas NFC conectadas ao site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85800" y="2414016"/>
            <a:ext cx="4946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6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cidadão aproxima o celular da etiqueta instalada em um ponto de ônibus, praça ou equipamento público.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13232" y="3785616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70432" y="3785616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site abre sem instalar aplicativo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3232" y="4370832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70432" y="4370832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 equipamento já aparecem preenchidos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13232" y="4956048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70432" y="4956048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cidadão escolhe o problema e envia o protocolo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5800" y="6016752"/>
            <a:ext cx="4956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futura. A funcionalidade NFC ainda não integra a versão analisada.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329416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4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FFC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CIDADÃO INFORMA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859536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Verificação técnica e próximos controles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700784"/>
            <a:ext cx="10817352" cy="0"/>
          </a:xfrm>
          <a:prstGeom prst="line">
            <a:avLst/>
          </a:prstGeom>
          <a:noFill/>
          <a:ln w="12700">
            <a:solidFill>
              <a:srgbClr val="005C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029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C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Verificado para demonstração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86968" y="2679192"/>
            <a:ext cx="444398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testes de front-end e 102 de back-end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e build concluídos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Migrations confirmadas no Supabase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Vercel com status Ready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 e transparência retornando HTTP 200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01968" y="2029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C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controles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729984" y="2679192"/>
            <a:ext cx="44439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privado e URLs assinadas para anexos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único para respostas de erro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Cron para retentativas de IA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Aumento da cobertura de resolved_at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5632704"/>
            <a:ext cx="10817352" cy="0"/>
          </a:xfrm>
          <a:prstGeom prst="line">
            <a:avLst/>
          </a:prstGeom>
          <a:noFill/>
          <a:ln w="12700">
            <a:solidFill>
              <a:srgbClr val="005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58613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C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</a:t>
            </a:r>
            <a:endParaRPr lang="en-US" sz="95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758952" y="6126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cidadao-informa.vercel.app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01968" y="58613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C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</a:t>
            </a:r>
            <a:endParaRPr lang="en-US" sz="9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6601968" y="6126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github.com/gabrielvilela12/Cidadao-Informa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29416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Cidadão Informa - Apresentação da Fase 5</dc:title>
  <dc:subject>Consolidação Técnica do Cidadão Informa - Fase 5</dc:subject>
  <dc:creator>Gabriel Vilela Peixoto e Luis Gustavo Rivalta</dc:creator>
  <cp:lastModifiedBy>Gabriel Vilela Peixoto e Luis Gustavo Rivalta</cp:lastModifiedBy>
  <cp:revision>1</cp:revision>
  <dcterms:created xsi:type="dcterms:W3CDTF">2026-09-16T00:31:02Z</dcterms:created>
  <dcterms:modified xsi:type="dcterms:W3CDTF">2026-09-16T00:31:02Z</dcterms:modified>
</cp:coreProperties>
</file>