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27d91971a4dc1" /><Relationship Type="http://schemas.openxmlformats.org/officeDocument/2006/relationships/extended-properties" Target="/docProps/app.xml" Id="Rf57d458a21cf495f" /><Relationship Type="http://schemas.openxmlformats.org/officeDocument/2006/relationships/officeDocument" Target="/ppt/presentation.xml" Id="R980385c8797c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84a5cd7984ac2"/>
  </p:sldMasterIdLst>
  <p:notesMasterIdLst>
    <p:notesMasterId xmlns:r="http://schemas.openxmlformats.org/officeDocument/2006/relationships" r:id="R98dd5697fd4a46f9"/>
  </p:notesMasterIdLst>
  <p:sldIdLst>
    <p:sldId xmlns:r="http://schemas.openxmlformats.org/officeDocument/2006/relationships" id="256" r:id="R2c02b66cd76840bf"/>
    <p:sldId xmlns:r="http://schemas.openxmlformats.org/officeDocument/2006/relationships" id="257" r:id="R16697e60cd19481e"/>
    <p:sldId xmlns:r="http://schemas.openxmlformats.org/officeDocument/2006/relationships" id="258" r:id="Re834c6b702064615"/>
    <p:sldId xmlns:r="http://schemas.openxmlformats.org/officeDocument/2006/relationships" id="259" r:id="R66f01edb042a4f1c"/>
    <p:sldId xmlns:r="http://schemas.openxmlformats.org/officeDocument/2006/relationships" id="260" r:id="R6ef4fed0b9d648fe"/>
    <p:sldId xmlns:r="http://schemas.openxmlformats.org/officeDocument/2006/relationships" id="261" r:id="R6a91c297dbc247f8"/>
    <p:sldId xmlns:r="http://schemas.openxmlformats.org/officeDocument/2006/relationships" id="262" r:id="R89fb107a94064f69"/>
    <p:sldId xmlns:r="http://schemas.openxmlformats.org/officeDocument/2006/relationships" id="263" r:id="R6cf4f99a9ede4a6e"/>
    <p:sldId xmlns:r="http://schemas.openxmlformats.org/officeDocument/2006/relationships" id="264" r:id="R222fb2328f92496f"/>
    <p:sldId xmlns:r="http://schemas.openxmlformats.org/officeDocument/2006/relationships" id="265" r:id="Rcf9bdef278c94d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84a5cd7984ac2" /><Relationship Type="http://schemas.openxmlformats.org/officeDocument/2006/relationships/theme" Target="/ppt/theme/theme1.xml" Id="R0268bd6fa5364aa4" /><Relationship Type="http://schemas.openxmlformats.org/officeDocument/2006/relationships/notesMaster" Target="/ppt/notesMasters/notesMaster1.xml" Id="R98dd5697fd4a46f9" /><Relationship Type="http://schemas.openxmlformats.org/officeDocument/2006/relationships/presProps" Target="/ppt/presProps.xml" Id="Reb9a71b0d97f4343" /><Relationship Type="http://schemas.openxmlformats.org/officeDocument/2006/relationships/viewProps" Target="/ppt/viewProps.xml" Id="R541cb2b7d93d4298" /><Relationship Type="http://schemas.openxmlformats.org/officeDocument/2006/relationships/tableStyles" Target="/ppt/tableStyles.xml" Id="Ra83415936270479c" /><Relationship Type="http://schemas.openxmlformats.org/officeDocument/2006/relationships/slide" Target="/ppt/slides/slide1.xml" Id="R2c02b66cd76840bf" /><Relationship Type="http://schemas.openxmlformats.org/officeDocument/2006/relationships/slide" Target="/ppt/slides/slide2.xml" Id="R16697e60cd19481e" /><Relationship Type="http://schemas.openxmlformats.org/officeDocument/2006/relationships/slide" Target="/ppt/slides/slide3.xml" Id="Re834c6b702064615" /><Relationship Type="http://schemas.openxmlformats.org/officeDocument/2006/relationships/slide" Target="/ppt/slides/slide4.xml" Id="R66f01edb042a4f1c" /><Relationship Type="http://schemas.openxmlformats.org/officeDocument/2006/relationships/slide" Target="/ppt/slides/slide5.xml" Id="R6ef4fed0b9d648fe" /><Relationship Type="http://schemas.openxmlformats.org/officeDocument/2006/relationships/slide" Target="/ppt/slides/slide6.xml" Id="R6a91c297dbc247f8" /><Relationship Type="http://schemas.openxmlformats.org/officeDocument/2006/relationships/slide" Target="/ppt/slides/slide7.xml" Id="R89fb107a94064f69" /><Relationship Type="http://schemas.openxmlformats.org/officeDocument/2006/relationships/slide" Target="/ppt/slides/slide8.xml" Id="R6cf4f99a9ede4a6e" /><Relationship Type="http://schemas.openxmlformats.org/officeDocument/2006/relationships/slide" Target="/ppt/slides/slide9.xml" Id="R222fb2328f92496f" /><Relationship Type="http://schemas.openxmlformats.org/officeDocument/2006/relationships/slide" Target="/ppt/slides/slide10.xml" Id="Rcf9bdef278c9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ac25674050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b8e6e79ce4522" /><Relationship Type="http://schemas.openxmlformats.org/officeDocument/2006/relationships/notesMaster" Target="/ppt/notesMasters/notesMaster1.xml" Id="Rd6dfdc93a2b1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9e50de66f48ec" /><Relationship Type="http://schemas.openxmlformats.org/officeDocument/2006/relationships/notesMaster" Target="/ppt/notesMasters/notesMaster1.xml" Id="Rd65edaaf8ad54b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a1d0418be4535" /><Relationship Type="http://schemas.openxmlformats.org/officeDocument/2006/relationships/notesMaster" Target="/ppt/notesMasters/notesMaster1.xml" Id="R2302b3ae648249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1dde5294c4541" /><Relationship Type="http://schemas.openxmlformats.org/officeDocument/2006/relationships/notesMaster" Target="/ppt/notesMasters/notesMaster1.xml" Id="R4494bd23d994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5cd3934c243f3" /><Relationship Type="http://schemas.openxmlformats.org/officeDocument/2006/relationships/notesMaster" Target="/ppt/notesMasters/notesMaster1.xml" Id="R3286fdb91ed44a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557535f8cf4944" /><Relationship Type="http://schemas.openxmlformats.org/officeDocument/2006/relationships/notesMaster" Target="/ppt/notesMasters/notesMaster1.xml" Id="R5868af9f2349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7ba762fe14710" /><Relationship Type="http://schemas.openxmlformats.org/officeDocument/2006/relationships/notesMaster" Target="/ppt/notesMasters/notesMaster1.xml" Id="R0954fe9afb0243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d2b218a4f4072" /><Relationship Type="http://schemas.openxmlformats.org/officeDocument/2006/relationships/notesMaster" Target="/ppt/notesMasters/notesMaster1.xml" Id="Rdfb0819a1d5140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3c02f04bf244b8" /><Relationship Type="http://schemas.openxmlformats.org/officeDocument/2006/relationships/notesMaster" Target="/ppt/notesMasters/notesMaster1.xml" Id="R5744fd4f7fd4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99a0c4ace84c0a" /><Relationship Type="http://schemas.openxmlformats.org/officeDocument/2006/relationships/notesMaster" Target="/ppt/notesMasters/notesMaster1.xml" Id="R1998eaa97b8141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812b3aa2c46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91bc1021774a31" /><Relationship Type="http://schemas.openxmlformats.org/officeDocument/2006/relationships/slideLayout" Target="/ppt/slideLayouts/slideLayout2.xml" Id="Rabc5aab0d37844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5aab0d37844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d3ac8e3bb4cc1" /><Relationship Type="http://schemas.openxmlformats.org/officeDocument/2006/relationships/notesSlide" Target="/ppt/notesSlides/notesSlide1.xml" Id="R9ce033b4ed27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530971a162412a" /><Relationship Type="http://schemas.openxmlformats.org/officeDocument/2006/relationships/notesSlide" Target="/ppt/notesSlides/notesSlide2.xml" Id="R0a73b971dfe149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7ae119f6b9499e" /><Relationship Type="http://schemas.openxmlformats.org/officeDocument/2006/relationships/notesSlide" Target="/ppt/notesSlides/notesSlide3.xml" Id="R85ceefcdf22145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2d2b3ee284be7" /><Relationship Type="http://schemas.openxmlformats.org/officeDocument/2006/relationships/notesSlide" Target="/ppt/notesSlides/notesSlide4.xml" Id="Rf475a4ededa2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aa75ada6cc45e8" /><Relationship Type="http://schemas.openxmlformats.org/officeDocument/2006/relationships/notesSlide" Target="/ppt/notesSlides/notesSlide5.xml" Id="R1b17c4d2ee5243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6c61187824bd3" /><Relationship Type="http://schemas.openxmlformats.org/officeDocument/2006/relationships/notesSlide" Target="/ppt/notesSlides/notesSlide6.xml" Id="Rcedc253eddcd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48ea9e1734412" /><Relationship Type="http://schemas.openxmlformats.org/officeDocument/2006/relationships/notesSlide" Target="/ppt/notesSlides/notesSlide7.xml" Id="R5fe21c1f3bc444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04521cb444a73" /><Relationship Type="http://schemas.openxmlformats.org/officeDocument/2006/relationships/notesSlide" Target="/ppt/notesSlides/notesSlide8.xml" Id="Rc91f03369745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aa31420e654d50" /><Relationship Type="http://schemas.openxmlformats.org/officeDocument/2006/relationships/notesSlide" Target="/ppt/notesSlides/notesSlide9.xml" Id="R4e4bbfff99ed49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67ce6139c42e0" /><Relationship Type="http://schemas.openxmlformats.org/officeDocument/2006/relationships/notesSlide" Target="/ppt/notesSlides/notesSlide10.xml" Id="R30312c3cb9e2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8C36D-AD12-49B8-B9A1-BD46F2F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FC748-126D-4BA5-B979-A5DA002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ENTERPRISE CHALLENGE | EGESP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5E7A-88FF-4035-A496-D0A4CED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857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Cidadão Informa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AAAD-9D01-4F3B-9962-891C08EF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7524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Ciência de Dados e IA para priorizar solicitações de zeladoria urbana com transparência, auditoria e revisão humana.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18F5-7201-4157-A278-35470AD4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Grupo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A8274-E93D-4683-9E52-44FF7D9E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25C35-81D9-44FE-9A14-D621F49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FF411-C0D3-427F-984B-13ED8025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Nome e 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FF7FC-2EDA-4666-96E9-C5EEC3D5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3AFD9-02F6-4D46-A88D-1250EE2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AE5EB-22B2-4CCF-9FCA-7EF85C56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Nome e 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742D0-F96C-4C96-A4AB-9DFEC9E1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41B6E-4D81-47E9-B4FB-3551478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Foto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282E8-5FF5-4DAE-A692-CC1D826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Nome e 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1D8D-8F69-4BDD-AF98-1BD7D50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57625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A68CB-902D-415E-A340-4789324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1ABC9-60FD-4996-B506-D99108AF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529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Nome e 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B4059-BFE4-43EA-90CA-8902A21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Link do vídeo: preencher após publicação não listada no YouTube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8CCF7-8AD4-443B-B88C-44DEE422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F9319-946E-4C14-90ED-3A2994A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02643-118D-4E81-ADCC-7DD2EF23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4124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05EFA-CDD1-4910-BCD6-C55F950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54E85-131C-4494-B983-940705D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5E72E-514C-4F47-809C-8356599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problema público é menos técnico que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0FAC-B15D-47BE-917C-CF166EB7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Demandas urbanas existem, mas o fluxo ainda costuma ser disperso, pouco rastreável e difícil de priorizar.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CCE44-E317-4616-ABCB-E2204FF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FFBDA-17FF-430A-BD98-D5157A02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4557-E8B4-4CCE-84D7-88D0816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44FE3-09FC-4B98-8972-A4F417F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DF6D2-7586-42BA-AD62-E7467938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8FB30-6AD9-46A3-9DCD-A5F2192B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o cidadão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E2754-2DE9-4038-8130-C0B9EFB4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Abertura de chamado sem retorno claro, dificuldade de acompanhar protocolo e baixa confiança no andamento.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8B300-49F6-4A59-86C9-D2D43712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1863E-B4BC-4AFE-8877-3E37AB9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1AA26-0194-40FB-9CBD-C46D814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0982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a gestão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8CE3B-BE6D-46FC-8E17-A975CE3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33675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Fila sem critérios consistentes, pouca visão territorial e dificuldade para identificar risco de SLA.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09EA7-97F4-4416-8F7F-0B0E1A8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20B45-14EE-4705-B9BC-F2A2BB6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9431E-8998-4F10-989A-472E47DC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982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a política pública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546A2-84A9-43A8-9045-6B4E5DA3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Dados fragmentados dificultam transparência, planejamento de equipes e prestação de contas.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1874F-1B37-467A-961E-35BCA9F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CF48A-73A9-4902-90BA-07ECD8E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734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mentoria da EGESP reforçou que IA deve gerar valor público mensurável, não apenas efeito demonstrativo.</a:t>
            </a:r>
          </a:p>
        </p:txBody>
      </p:sp>
    </p:spTree>
    <p:extLst>
      <p:ext uri="{BB962C8B-B14F-4D97-AF65-F5344CB8AC3E}">
        <p14:creationId xmlns:p14="http://schemas.microsoft.com/office/powerpoint/2010/main" val="484052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22944-65FB-4E83-AF96-CC5792C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87D39-858E-4B5E-8FDE-6617DEED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PROTÓTIPO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CE2CB-5B70-46AC-BE64-B161CEC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solução conecta cidadão, protocolo e gestão em uma jornada única.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1608C-2744-44F0-A810-C9ED30F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 avanço deixa o sistema demonstrável de ponta a ponta, com telas cidadãs e administrativas.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2CD18-EE62-42A2-9CF4-A9DB0C9F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7FFC1-8D59-4E19-9060-35F489EB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259C-417D-4D91-8BF5-E66B7CA9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5EDDD-E84B-423E-BC14-DC95790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22807-4911-417B-8B00-A87303D8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7DD9B-5395-45D4-8AEC-0452F09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30152-CA13-4105-BA7B-2687171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254C1-1522-442B-8514-5366F90F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653CC-9122-471B-9050-B4855DA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527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E015E-E0D4-43FD-AEB4-A0517B7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Solicitação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28781-A9A2-4A93-B18A-296BFFC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0EBDD-B9B1-41C5-98B0-AE671D2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51655-47C3-4D11-9CD3-E9745B1D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527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20288-2701-4D32-99D8-6D01296C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6F78A-C58F-45EA-BD2A-15241C88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BB836-7A0A-4AEE-A245-1C4AEC0A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F5B3C-B914-42A7-ACF6-F8A0B7F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527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66768-9B2D-40A4-99B7-4502A3B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Fila 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46E38-E3DC-4EFE-9EF7-0EE27EDA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57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DD24F-233D-4B1C-B9D9-B194C2D6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F0B6B-6EE9-4512-9892-0097C20A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91E32-D813-4010-B364-CC030A2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28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18D87-E82C-46E8-937B-247F23D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05250"/>
            <a:ext cx="11430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87E02-980F-4998-8EA5-4825D113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5287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2C7DB-07A9-4909-926E-1B49DA7A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A08EB-4A79-4A6F-87F5-5A2D9D2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528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985A3-DC15-4495-8B62-C5B15FBD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53C74-2AEA-4F90-8517-622357E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528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Exportação XLSX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44793-D448-490A-977C-4C799FD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1238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3DA03-5D63-4E7F-8A1A-B00CAF58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528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 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CA7D01-6926-497B-9FCD-02D8AF6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1619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2C1977-A2BA-4BB8-A19A-BA64CA37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Acessibilidade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642D0-0B5B-4218-962D-9B51F348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sistema já tem interface simples, navegação por perfil, consulta de protocolos e painéis para acompanhamento operacional.</a:t>
            </a:r>
          </a:p>
        </p:txBody>
      </p:sp>
    </p:spTree>
    <p:extLst>
      <p:ext uri="{BB962C8B-B14F-4D97-AF65-F5344CB8AC3E}">
        <p14:creationId xmlns:p14="http://schemas.microsoft.com/office/powerpoint/2010/main" val="62716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CE1EA6-1DF9-4ACB-AC5F-79C2C873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5C00A-D128-44AE-A8F6-9A4267E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162B1-2742-44F0-9A69-567D379E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protótipo usa uma arquitetura híbrida para produção e entrega acadêmica.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AFE76-0208-426D-BD7A-9A69B75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React e Supabase sustentam o fluxo web; o backend Java organiza API, segurança e regras de negócio.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A2AC9-7BCA-428D-B158-6A548CD2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CE577-53C7-42F3-94D2-6578102A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9DB0-FE90-4FFF-B097-CF3C8D1E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B0BCE-D57F-42BE-A5E9-5F87DC33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C968B-7B00-4A1A-BB63-E3543846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55637-C21B-4026-BC0A-8226E94E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Frontend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B1B60-3614-4ED5-BE0D-3467BB1F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476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React 19, TypeScript, Vite, Tailwind, React Router, Leaflet e Recharts.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F415A-9EB1-48AE-B441-8547A7FB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218C-8336-4A28-B5B8-31DFC6C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9356B-B34B-451F-BF70-6BE9948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98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Banco de dados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B38AC-8FAA-4F27-B451-940444F6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33675"/>
            <a:ext cx="2476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Supabase/PostgreSQL com usuários, protocolos, prioridade IA, jobs e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20FAD-C152-45B8-9359-ECC3BD2C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8621-D372-48A8-9601-CF2192DA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45BA6-F311-496E-A8D6-932E84A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982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Backend Java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4CE60-E1C0-4826-B698-4638820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76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Spring Boot, JPA/Hibernate, JWT, controllers e camada de aplicação.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4A1CC-CF3D-49D2-BC84-94A648FF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DD93A-C77E-474B-A32A-DE53163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8D45B-24CE-4C36-BB0F-C78A8C7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147637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8CF90-48EE-4FCF-AE2E-3AAB042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E24E8-4AAA-4F4D-9B8A-3ED2C6C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9625"/>
            <a:ext cx="1333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B355B-10D8-4853-9CC5-DF688F9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672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RLS e perfis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EB066-1CBF-4780-AF0B-4C287EA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157162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2A52F-4629-4D17-AC36-2EE6A16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67250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Edge Function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C0CA5-306C-40FD-8BDA-9E5A999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19625"/>
            <a:ext cx="2000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028F87-FFE2-41DA-A84C-5D2261B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OpenRouter/Gemini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60A5CC-19DD-4528-A622-BDC89201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Prática de cibersegurança: hash de senha, controle por perfil, variáveis de ambiente, tokens e auditoria de ações de IA.</a:t>
            </a:r>
          </a:p>
        </p:txBody>
      </p:sp>
    </p:spTree>
    <p:extLst>
      <p:ext uri="{BB962C8B-B14F-4D97-AF65-F5344CB8AC3E}">
        <p14:creationId xmlns:p14="http://schemas.microsoft.com/office/powerpoint/2010/main" val="695615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EB1F5-00C8-4C81-9B3C-9D8A027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5A2FC-7B8A-4B78-92FA-464A652A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880DF-94B2-4466-B95B-485DD19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dashboard transforma protocolos em leitura gerencial.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931B5-269A-4AA5-A708-8D6D962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Ciência de Dados aparece na coleta, padronização, agregação e visualização das solicitações.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073CA-FA19-429A-9B9A-A6F5084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AC55-E573-4133-BF48-B88D893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79C82-89E8-48C2-9688-3CB76E54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19C6D-55D9-4F36-989F-C4C6837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3FCAA-9908-4EF6-BF8F-9EE5E78A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E4180-39FB-4206-BBBB-3281163D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78422-DEF6-470E-8113-DA96C5B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Solicitações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A934F-7D49-4639-AF32-4ED70E0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volume consolidado por período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B0509-B6C2-4919-9DBC-AD4E09B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58DCF-D2D8-433C-97F3-4158E27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E0665-2AE5-47E1-AD8C-A2DD436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Fila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0F691-769C-4AEC-B1EE-D0D9A3B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Em análise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2DA15-4E03-43EC-BD9D-A9C0A11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casos aguardando triagem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1A49B-10F8-498B-9416-CAE82BF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C7778-83CD-4580-B377-5D2AE13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3837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D3815-B64D-4E2E-AACB-C9B39A0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67E10-15A5-4FD5-B640-10B54F3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Atraso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415CF-D6F5-4C06-AEB8-04D0844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risco operacional monitorado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57314-57A9-454D-9772-975BAE79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02926-2591-4780-96F7-09B7E2C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0643F-41C1-4A10-BD2A-3E8C235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86025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2B74B-AB26-405E-B0F0-0CBA5714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67025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Resolução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86519-7A9F-4B7C-8264-437F366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taxa de conclusão por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21CB6-C2CC-4CFB-9C42-BF005061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048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752412-EC8A-4268-A60F-78C1DFD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Distribuição por categoria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A2F5D-2739-44A8-86E6-CF33AD5E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Física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61663-7E75-4FA7-9166-7F2326C7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52950"/>
            <a:ext cx="2228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CB5A1-51F0-405A-B393-8DA9BB3E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2FF5F-70F8-465B-8436-8B388D5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1371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09D3E-C213-4468-A5A5-82F35060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Auditiva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22BFE-689C-4B49-AB22-B998C299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1028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11D79-C4E5-4293-B170-DA4A98C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Outros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69790-C37E-4F03-8633-7C1A872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38750"/>
            <a:ext cx="714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1EBC71-2813-49E6-9400-A76BFDAF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4381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469012-2310-4026-9FC0-068DB181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Fluxo mensal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6EAD50-A00E-43E1-8B69-CEF43E6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FDCA8-47C6-4857-BEFB-D8DE6C30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053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D23967-0EE4-48B0-8B51-C875477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22F004-BE4E-4BE5-86A0-946A2AD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83C44C-5A9E-4695-A1B2-3E1BD478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67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AE9AC9-E344-4496-9D1B-F1FDEAEF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701DCF-2BB1-41B3-9BDC-7231F1E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EE9CF-9CD0-43A1-B4B2-352A96E4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EB2B68-6B3F-4628-8F73-AB2EA9E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AD562C-24A4-4236-A50A-D6BE1A5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055410-7F28-4C5F-B788-B349811D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9227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8090E-8A98-4C03-802E-75F37C49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802A8-3CA3-4051-90B9-244BF2E3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IA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84723-694A-444F-9E27-960B4EE3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IA prioriza chamados sem substituir o servidor público.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CB92E-A545-4511-B273-46C2706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 pipeline combina MVP explicável no dashboard e classificação generativa em implantação.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2DCFF-0CB6-4CD6-A355-57ACBFA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10D7A-D274-4D34-8AC8-A926279C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E546C-40CF-44D8-9E25-DA9A21F1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A381D-5C05-4E2D-ADAF-5BB44EF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EA87B-99AF-426C-98B4-D6255C0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48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Protocolo criado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E8AEF-7C3A-4A56-B652-33526091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AAD40-61D3-4659-A494-D6F3B89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81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E589C-1A84-4D4B-A20D-FA56040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90D9C-BA9A-4A97-9EEB-C914E99A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28900"/>
            <a:ext cx="148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Job assíncrono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27A4D-48E9-4BB0-B573-462B7462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FE967-0A74-473A-B34C-C626BC87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81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FFC79-B992-4E37-AFEC-8153B162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1988E-5E27-42A7-93FB-0E9682E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148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Edge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5F34C-B852-4629-8AAF-6A8A9690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0E20B-5F43-4285-9AF2-F22644C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752F-3196-450C-A506-E074CF0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3FA79-1915-4C73-8628-A20C2D7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28900"/>
            <a:ext cx="148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Gemini 2.5 Flash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8FEAE-C011-4E8D-B672-406C76B5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8D38B-2929-4D82-BE89-A57F4BC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81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CA486-5400-4DB0-8AEB-7DDF3661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D420B-9208-46BE-82FC-606EE23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48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Prioridade 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E3EB3-288D-48C0-B37E-6B1F066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3888A-C60D-46B4-975E-4AAB3D5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238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F1689-C028-4E46-B17C-5171373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528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BAIXA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DBC66E-F544-4451-BEE2-C7C8CC65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05250"/>
            <a:ext cx="1238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6322A-1608-4E35-BBFB-0B28F1B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528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EF55C-4F04-40BE-86AD-05D2F5D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1238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A6145-3166-49AB-A191-5482D6C2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5287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F2EA8-1901-4103-96FF-A338B2AF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333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3862-59E7-4AA9-8F06-559FFBA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CRÍTICA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6C253-BE5C-42CC-B6DF-43B1CF9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25A66-C756-4A66-9388-B69B20B7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Falhou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71317-60CA-4576-B17F-60BEEAB7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9620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Controles do gestor: regenerar IA, trocar prioridade manualmente, registrar motivo e consultar logs de auditoria.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FCF479-79A5-4335-91AB-130A9CA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34000"/>
            <a:ext cx="933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Status realista da etapa: a base técnica está criada; a amarração automática do fluxo produtivo direto via Supabase é o próximo ajuste de integração.</a:t>
            </a:r>
          </a:p>
        </p:txBody>
      </p:sp>
    </p:spTree>
    <p:extLst>
      <p:ext uri="{BB962C8B-B14F-4D97-AF65-F5344CB8AC3E}">
        <p14:creationId xmlns:p14="http://schemas.microsoft.com/office/powerpoint/2010/main" val="137643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8BEC5-9060-4231-9493-C96A2712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829E5-84E7-4245-B9A5-30B240AD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5E249-8BE6-4260-B035-43D3DA2A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IA no governo precisa ser explicável, auditável e revisada.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61A8D-6C1C-4DAC-A54A-ABA5E9E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proposta segue o princípio de apoio à decisão, com cuidado de LGPD e segurança desde o 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B1DA1-86BC-40A2-879E-F98ABD92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2600-32AD-4921-B440-8EBB392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BCEB1-432A-46F5-BB63-A1AB080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653E5-CD6B-4FB1-ACBC-F080F15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504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7AE6F-8480-4EA3-B322-34F4CF28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CA520-C964-4BA6-8439-034A91A5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LGPD e minimização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E20D8-D5C3-4878-9FA5-697083A2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466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Evitar envio de CPF, telefone e dados sensíveis para APIs externas quando não forem necessários.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67981-CD7C-4A1D-BBF9-421B757B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504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6CD9-D5F1-4479-BD88-DE7F21DF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15079-3B2A-4729-86D7-0FF7F3CB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9825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Humano no processo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EA980-5D14-4E33-A785-8712EDC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466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prioridade sugerida não executa ação administrativa sozinha; o servidor revisa, troca ou regenera.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57B9E-F7CB-4C70-94CC-151DDAD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04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1B1C6-6431-45B7-A055-F8F6B5C1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B358D-2A43-4A6B-A802-937E15B0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BA11E-FEFA-4DD0-9524-9B39884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466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Tabelas ai_priority_jobs e ai_job_logs registram tentativas, origem da decisão, motivo e histórico.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55974-E063-4BCB-9598-CA3ADDC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504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FA63B-3A75-41D6-98FC-E705E08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FE092-E767-4FD0-B990-2A7DF04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Resiliência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00CA-E79D-461F-A5CF-3F8BD73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52925"/>
            <a:ext cx="466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Falha de IA não bloqueia o protocolo; o sistema mostra aviso e mantém alternativa manual.</a:t>
            </a:r>
          </a:p>
        </p:txBody>
      </p:sp>
    </p:spTree>
    <p:extLst>
      <p:ext uri="{BB962C8B-B14F-4D97-AF65-F5344CB8AC3E}">
        <p14:creationId xmlns:p14="http://schemas.microsoft.com/office/powerpoint/2010/main" val="2037620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FE7BE-14B5-4CF8-B30B-853A9E3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A940D-7933-4200-BDDB-8D1FE2D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CRONOGRAMA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61785-973D-4055-9B8B-846865F8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avanço de dados e IA foi concentrado nesta etapa da entrega.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E1567-0ACF-427E-A51E-B1AA870A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próxima fase foca validação, integração final e melhoria da base analítica.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29C87-0094-4DD5-A9A6-D0C2CB0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F02EE-8387-4B8D-836B-F9B120A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045C1-641B-4A67-988C-D22066C2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D1838-A0EF-4059-86A0-FA83E4E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CC5AD-5A8F-4775-A6A4-91489474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Fev-Mar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85A57-7CD8-4893-9EEB-868B1E7A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193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00C44-ED09-4DFD-A91A-DDADCFB2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problema, backlog e jornada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BB064-47A7-45AC-9417-B020DBE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6BBB9-D2F8-4707-BB8E-9DAA92D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Abr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97012-6D05-4D79-810F-55218CAD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289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DD00E-19B5-4751-B625-624F61BB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frontend, login, protocolos e mapas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DBDD-D0D6-4EB5-A1E3-007DCBF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B1B85-DC16-47D3-9487-3D380FC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Maio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3EA31-B539-4316-88D8-E7DCD142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90ED4-1A62-4CCD-B8F1-99ACA01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385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mentoria EGESP e ajuste de foco em dados/IA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036A9-46FC-44BB-893F-56763927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A8FDD-2447-489C-A090-565A9CA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Maio 22-25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83B14-2D8B-4978-BD15-B997747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EC1D9-ED97-4733-980F-1D54BF8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migrations IA, Edge Function, prioridade, logs e materiais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75EC2-D39D-40BF-93E7-A3590F9C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4A424-39F9-4ACF-850E-F51DCB53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Junho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9D862-A834-49B8-AC01-27A02463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577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 andamento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A376B-72EA-47FA-B12C-364C5F3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577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integração final, geodados e testes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14A7F-454E-4C86-954A-E607E98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2870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45165-7A15-44E1-9BCB-B237D98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Julho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87A60-7E3B-4DEA-8655-E32BB28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Futuro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F7277A-0C7C-4D37-A22E-9BFFBD7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673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predição de atraso, resumos e validação com usuários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0264B-FF96-4E5E-8757-5C30ED9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38100" cy="0"/>
          </a:xfrm>
          <a:prstGeom xmlns:a="http://schemas.openxmlformats.org/drawingml/2006/main"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907855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1D2C9-F680-4FEB-BDDC-7DA11B76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8F90-5C72-478C-872E-DBEA1149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VÍDEO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8A06-D8BF-4B19-98D0-A919A811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62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Roteiro de demonstração para cerca de 5 minutos.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9E4C2-1ACB-4C45-BB50-219A0A3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Os slides guiam a fala e a navegação nas telas já implementadas.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0C001-2982-4E3E-9B9C-BAE2155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0C7F8-5858-4D68-B1F1-997ADD32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24695-6DB0-4EBC-ACDA-266A4492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079D6-0513-406C-A267-41A90808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6453D-3604-4128-B536-4F0FA90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403AF-55D4-49D7-9BB2-09977A3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0:00 -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1DBE9-38E5-4DC0-B566-743BA9EC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Apresentar integrantes, projeto e contexto HackGov/FIAP + EGESP.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38916-567B-48F6-BC60-A9C0B690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6DA0D-FEA6-4366-B8CB-3E66822F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B0AB3-C1ED-4472-881C-4270249F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0:35 - Problema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A6840-7875-484F-A0FE-F699CA2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Mostrar por que protocolos sem dados dificultam cidadania e gestão.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FDF93-1A92-4F4D-AB1D-B1FC770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DB042-7B5D-4720-999E-54CA04A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441C3-2F8B-400A-99AF-F3162B45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1:20 - Protótipo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A012E-4199-492B-AD26-F6D350A8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Navegar por login, solicitação, protocolos, mapa e área admin.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14489-F283-461E-93FC-E109FDC2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1A920-A18B-4626-932A-8EA40ED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3D0F1-1969-42CA-BCF7-89997F65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2:30 - Dados e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BFC98-C30C-4FDD-B65C-C0347026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Explicar KPIs, dashboard, prioridade IA, logs e revisão humana.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91FDC-94B2-474A-93E8-6E1AB0D7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69AC0-B1D0-42A3-BA7D-ED7DE86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E4C2D-2F04-4BEC-B7AD-60EB098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3:50 - Métodos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AF443-1A7F-4888-ACE7-2A7E45D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Citar stack, banco, segurança, Edge Function, Gemini e auditoria.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03D50-C239-425D-B7CE-E0C7B24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57625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1B5ED-5D8E-4A29-97DE-3D21057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F74B5F-47DB-4F4A-A833-366BF033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290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4:35 - Próximos passos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09370-D71A-416D-9533-24D2949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52925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Fechar com cronograma, integração final e evolução analítica.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B058E-DD48-45BA-8FB3-0AAF631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Ao gravar, publicar como não listado e substituir o link no arquivo LINK_VIDEO_YOUTUBE.txt.</a:t>
            </a:r>
          </a:p>
        </p:txBody>
      </p:sp>
    </p:spTree>
    <p:extLst>
      <p:ext uri="{BB962C8B-B14F-4D97-AF65-F5344CB8AC3E}">
        <p14:creationId xmlns:p14="http://schemas.microsoft.com/office/powerpoint/2010/main" val="1327125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D7B51-9AC9-4CC1-AB3A-5CE6F05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C4B3F-81FE-4499-B687-788A143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33D1F-AF3E-4CAB-8C82-A0B8AB5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8858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protocolo perdido a gestão orientada por dados.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304FC-03DE-4A86-9E8A-AF553AD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57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 Cidadão Informa demonstra front-end, backend, banco de dados, segurança, relatórios e uma trilha concreta de IA para apoiar a triagem pública com transparência.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90648-C2AD-46D8-8696-87D78C1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A1AF-FCAB-439D-8668-0E53BCE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 público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27C01-0136-4D3D-B2AD-A712E1C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resposta mais rápida e acompanhamento claro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06F0B-2ED8-4FF1-9DFF-8839C0E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67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1DE7-3A1B-4FFD-B6E3-F43C1081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5A385-F74A-4A3D-B596-620EB890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indicadores, mapa, fila e relatórios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36CEA-8D80-4CD2-908A-0243B4F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38050-404C-4861-AD3E-F9C0966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responsável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A04A2-EAA8-42DA-8A0A-C2AD98B0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priorização com auditoria e revisão humana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D4703-56D2-4A08-92E6-92DCCF3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9956A-B393-4CA6-8230-FBC9AB6C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C739D-AD29-471E-89CC-14A1C07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217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2026-05-25T12:04:28.4010000Z</dcterms:created>
  <dcterms:modified xsi:type="dcterms:W3CDTF">2026-05-25T12:04:28.4010000Z</dcterms:modified>
</coreProperties>
</file>