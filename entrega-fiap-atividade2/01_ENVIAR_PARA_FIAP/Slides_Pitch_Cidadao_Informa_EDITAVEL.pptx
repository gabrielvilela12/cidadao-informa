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\.rels>&#65279;<?xml version="1.0" encoding="utf-8"?><Relationships xmlns="http://schemas.openxmlformats.org/package/2006/relationships"><Relationship Type="http://schemas.openxmlformats.org/package/2006/relationships/metadata/core-properties" Target="/docProps/core.xml" Id="R34c27d91971a4dc1" /><Relationship Type="http://schemas.openxmlformats.org/officeDocument/2006/relationships/extended-properties" Target="/docProps/app.xml" Id="Rf57d458a21cf495f" /><Relationship Type="http://schemas.openxmlformats.org/officeDocument/2006/relationships/officeDocument" Target="/ppt/presentation.xml" Id="R980385c8797c45f0" /></Relationships>
</file>

<file path=docProps\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\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2026-05-25T12:04:28.4010000Z</dcterms:created>
  <dcterms:modified xsi:type="dcterms:W3CDTF">2026-05-25T12:04:28.4010000Z</dcterms:modified>
</coreProperties>
</file>

<file path=ppt\_rels\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f84a5cd7984ac2" /><Relationship Type="http://schemas.openxmlformats.org/officeDocument/2006/relationships/theme" Target="/ppt/theme/theme1.xml" Id="R0268bd6fa5364aa4" /><Relationship Type="http://schemas.openxmlformats.org/officeDocument/2006/relationships/notesMaster" Target="/ppt/notesMasters/notesMaster1.xml" Id="R98dd5697fd4a46f9" /><Relationship Type="http://schemas.openxmlformats.org/officeDocument/2006/relationships/presProps" Target="/ppt/presProps.xml" Id="Reb9a71b0d97f4343" /><Relationship Type="http://schemas.openxmlformats.org/officeDocument/2006/relationships/viewProps" Target="/ppt/viewProps.xml" Id="R541cb2b7d93d4298" /><Relationship Type="http://schemas.openxmlformats.org/officeDocument/2006/relationships/tableStyles" Target="/ppt/tableStyles.xml" Id="Ra83415936270479c" /><Relationship Type="http://schemas.openxmlformats.org/officeDocument/2006/relationships/slide" Target="/ppt/slides/slide1.xml" Id="R2c02b66cd76840bf" /><Relationship Type="http://schemas.openxmlformats.org/officeDocument/2006/relationships/slide" Target="/ppt/slides/slide2.xml" Id="R16697e60cd19481e" /><Relationship Type="http://schemas.openxmlformats.org/officeDocument/2006/relationships/slide" Target="/ppt/slides/slide3.xml" Id="Re834c6b702064615" /><Relationship Type="http://schemas.openxmlformats.org/officeDocument/2006/relationships/slide" Target="/ppt/slides/slide4.xml" Id="R66f01edb042a4f1c" /><Relationship Type="http://schemas.openxmlformats.org/officeDocument/2006/relationships/slide" Target="/ppt/slides/slide5.xml" Id="R6ef4fed0b9d648fe" /><Relationship Type="http://schemas.openxmlformats.org/officeDocument/2006/relationships/slide" Target="/ppt/slides/slide6.xml" Id="R6a91c297dbc247f8" /><Relationship Type="http://schemas.openxmlformats.org/officeDocument/2006/relationships/slide" Target="/ppt/slides/slide7.xml" Id="R89fb107a94064f69" /><Relationship Type="http://schemas.openxmlformats.org/officeDocument/2006/relationships/slide" Target="/ppt/slides/slide8.xml" Id="R6cf4f99a9ede4a6e" /><Relationship Type="http://schemas.openxmlformats.org/officeDocument/2006/relationships/slide" Target="/ppt/slides/slide9.xml" Id="R222fb2328f92496f" /><Relationship Type="http://schemas.openxmlformats.org/officeDocument/2006/relationships/slide" Target="/ppt/slides/slide10.xml" Id="Rcf9bdef278c94d0a" /></Relationships>
</file>

<file path=ppt\notesMasters\_rels\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2ac2567405045c3" /></Relationships>
</file>

<file path=ppt\notesMasters\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\notesMasters\theme\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\notesSlides\_rels\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2b8e6e79ce4522" /><Relationship Type="http://schemas.openxmlformats.org/officeDocument/2006/relationships/notesMaster" Target="/ppt/notesMasters/notesMaster1.xml" Id="Rd6dfdc93a2b14803" /></Relationships>
</file>

<file path=ppt\notesSlides\_rels\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c9e50de66f48ec" /><Relationship Type="http://schemas.openxmlformats.org/officeDocument/2006/relationships/notesMaster" Target="/ppt/notesMasters/notesMaster1.xml" Id="Rd65edaaf8ad54b4e" /></Relationships>
</file>

<file path=ppt\notesSlides\_rels\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2a1d0418be4535" /><Relationship Type="http://schemas.openxmlformats.org/officeDocument/2006/relationships/notesMaster" Target="/ppt/notesMasters/notesMaster1.xml" Id="R2302b3ae6482498d" /></Relationships>
</file>

<file path=ppt\notesSlides\_rels\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71dde5294c4541" /><Relationship Type="http://schemas.openxmlformats.org/officeDocument/2006/relationships/notesMaster" Target="/ppt/notesMasters/notesMaster1.xml" Id="R4494bd23d99440d2" /></Relationships>
</file>

<file path=ppt\notesSlides\_rels\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c5cd3934c243f3" /><Relationship Type="http://schemas.openxmlformats.org/officeDocument/2006/relationships/notesMaster" Target="/ppt/notesMasters/notesMaster1.xml" Id="R3286fdb91ed44ad0" /></Relationships>
</file>

<file path=ppt\notesSlides\_rels\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557535f8cf4944" /><Relationship Type="http://schemas.openxmlformats.org/officeDocument/2006/relationships/notesMaster" Target="/ppt/notesMasters/notesMaster1.xml" Id="R5868af9f2349436e" /></Relationships>
</file>

<file path=ppt\notesSlides\_rels\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77ba762fe14710" /><Relationship Type="http://schemas.openxmlformats.org/officeDocument/2006/relationships/notesMaster" Target="/ppt/notesMasters/notesMaster1.xml" Id="R0954fe9afb024304" /></Relationships>
</file>

<file path=ppt\notesSlides\_rels\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3d2b218a4f4072" /><Relationship Type="http://schemas.openxmlformats.org/officeDocument/2006/relationships/notesMaster" Target="/ppt/notesMasters/notesMaster1.xml" Id="Rdfb0819a1d514080" /></Relationships>
</file>

<file path=ppt\notesSlides\_rels\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3c02f04bf244b8" /><Relationship Type="http://schemas.openxmlformats.org/officeDocument/2006/relationships/notesMaster" Target="/ppt/notesMasters/notesMaster1.xml" Id="R5744fd4f7fd442b8" /></Relationships>
</file>

<file path=ppt\notesSlides\_rels\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99a0c4ace84c0a" /><Relationship Type="http://schemas.openxmlformats.org/officeDocument/2006/relationships/notesMaster" Target="/ppt/notesMasters/notesMaster1.xml" Id="R1998eaa97b81413e" /></Relationships>
</file>

<file path=ppt\notesSlides\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\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f84a5cd7984ac2"/>
  </p:sldMasterIdLst>
  <p:notesMasterIdLst>
    <p:notesMasterId xmlns:r="http://schemas.openxmlformats.org/officeDocument/2006/relationships" r:id="R98dd5697fd4a46f9"/>
  </p:notesMasterIdLst>
  <p:sldIdLst>
    <p:sldId xmlns:r="http://schemas.openxmlformats.org/officeDocument/2006/relationships" id="256" r:id="R2c02b66cd76840bf"/>
    <p:sldId xmlns:r="http://schemas.openxmlformats.org/officeDocument/2006/relationships" id="257" r:id="R16697e60cd19481e"/>
    <p:sldId xmlns:r="http://schemas.openxmlformats.org/officeDocument/2006/relationships" id="258" r:id="Re834c6b702064615"/>
    <p:sldId xmlns:r="http://schemas.openxmlformats.org/officeDocument/2006/relationships" id="259" r:id="R66f01edb042a4f1c"/>
    <p:sldId xmlns:r="http://schemas.openxmlformats.org/officeDocument/2006/relationships" id="260" r:id="R6ef4fed0b9d648fe"/>
    <p:sldId xmlns:r="http://schemas.openxmlformats.org/officeDocument/2006/relationships" id="261" r:id="R6a91c297dbc247f8"/>
    <p:sldId xmlns:r="http://schemas.openxmlformats.org/officeDocument/2006/relationships" id="262" r:id="R89fb107a94064f69"/>
    <p:sldId xmlns:r="http://schemas.openxmlformats.org/officeDocument/2006/relationships" id="263" r:id="R6cf4f99a9ede4a6e"/>
    <p:sldId xmlns:r="http://schemas.openxmlformats.org/officeDocument/2006/relationships" id="264" r:id="R222fb2328f92496f"/>
    <p:sldId xmlns:r="http://schemas.openxmlformats.org/officeDocument/2006/relationships" id="265" r:id="Rcf9bdef278c94d0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5812b3aa2c469b" /></Relationships>
</file>

<file path=ppt\slideLayouts\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\slideMasters\_rels\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391bc1021774a31" /><Relationship Type="http://schemas.openxmlformats.org/officeDocument/2006/relationships/slideLayout" Target="/ppt/slideLayouts/slideLayout2.xml" Id="Rabc5aab0d3784491" /></Relationships>
</file>

<file path=ppt\slideMasters\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c5aab0d37844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\slides\_rels\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ed3ac8e3bb4cc1" /><Relationship Type="http://schemas.openxmlformats.org/officeDocument/2006/relationships/notesSlide" Target="/ppt/notesSlides/notesSlide1.xml" Id="R9ce033b4ed27497a" /></Relationships>
</file>

<file path=ppt\slides\_rels\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530971a162412a" /><Relationship Type="http://schemas.openxmlformats.org/officeDocument/2006/relationships/notesSlide" Target="/ppt/notesSlides/notesSlide2.xml" Id="R0a73b971dfe14988" /></Relationships>
</file>

<file path=ppt\slides\_rels\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7ae119f6b9499e" /><Relationship Type="http://schemas.openxmlformats.org/officeDocument/2006/relationships/notesSlide" Target="/ppt/notesSlides/notesSlide3.xml" Id="R85ceefcdf2214512" /></Relationships>
</file>

<file path=ppt\slides\_rels\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f2d2b3ee284be7" /><Relationship Type="http://schemas.openxmlformats.org/officeDocument/2006/relationships/notesSlide" Target="/ppt/notesSlides/notesSlide4.xml" Id="Rf475a4ededa244fe" /></Relationships>
</file>

<file path=ppt\slides\_rels\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aa75ada6cc45e8" /><Relationship Type="http://schemas.openxmlformats.org/officeDocument/2006/relationships/notesSlide" Target="/ppt/notesSlides/notesSlide5.xml" Id="R1b17c4d2ee52437f" /></Relationships>
</file>

<file path=ppt\slides\_rels\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f6c61187824bd3" /><Relationship Type="http://schemas.openxmlformats.org/officeDocument/2006/relationships/notesSlide" Target="/ppt/notesSlides/notesSlide6.xml" Id="Rcedc253eddcd4193" /></Relationships>
</file>

<file path=ppt\slides\_rels\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d48ea9e1734412" /><Relationship Type="http://schemas.openxmlformats.org/officeDocument/2006/relationships/notesSlide" Target="/ppt/notesSlides/notesSlide7.xml" Id="R5fe21c1f3bc44487" /></Relationships>
</file>

<file path=ppt\slides\_rels\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d04521cb444a73" /><Relationship Type="http://schemas.openxmlformats.org/officeDocument/2006/relationships/notesSlide" Target="/ppt/notesSlides/notesSlide8.xml" Id="Rc91f033697454ba6" /></Relationships>
</file>

<file path=ppt\slides\_rels\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aa31420e654d50" /><Relationship Type="http://schemas.openxmlformats.org/officeDocument/2006/relationships/notesSlide" Target="/ppt/notesSlides/notesSlide9.xml" Id="R4e4bbfff99ed49d2" /></Relationships>
</file>

<file path=ppt\slides\_rels\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467ce6139c42e0" /><Relationship Type="http://schemas.openxmlformats.org/officeDocument/2006/relationships/notesSlide" Target="/ppt/notesSlides/notesSlide10.xml" Id="R30312c3cb9e246be" /></Relationships>
</file>

<file path=ppt\slides\slide1.xml><?xml version="1.0" encoding="utf-8"?>
<p:sld xmlns:p="http://schemas.openxmlformats.org/presentationml/2006/main">
  <p:cSld>
    <p:bg>
      <p:bgPr>
        <a:solidFill xmlns:a="http://schemas.openxmlformats.org/drawingml/2006/main">
          <a:srgbClr val="09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88C36D-AD12-49B8-B9A1-BD46F2FF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685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FC748-126D-4BA5-B979-A5DA002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2450"/>
            <a:ext cx="400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3C5F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3C5FD"/>
                </a:solidFill>
                <a:latin typeface="Arial"/>
                <a:ea typeface="Arial"/>
                <a:cs typeface="Arial"/>
              </a:rPr>
              <a:t>ENTERPRISE CHALLENGE | EGESP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25E7A-88FF-4035-A496-D0A4CED2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62050"/>
            <a:ext cx="85725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Cidadão Informa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BAAAD-9D01-4F3B-9962-891C08EF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75247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Ciência de Dados e IA para priorizar solicitações de zeladoria urbana com transparência, auditoria e revisão humana.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118F5-7201-4157-A278-35470AD4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3C5F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3C5FD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A8274-E93D-4683-9E52-44FF7D9E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619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25C35-81D9-44FE-9A14-D621F495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Foto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FF411-C0D3-427F-984B-13ED8025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Gabriel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FF7FC-2EDA-4666-96E9-C5EEC3D5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57625"/>
            <a:ext cx="1619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3AFD9-02F6-4D46-A88D-1250EE20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Foto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8AE5EB-22B2-4CCF-9FCA-7EF85C56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Luis Gustavo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742D0-F96C-4C96-A4AB-9DFEC9E1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57625"/>
            <a:ext cx="1619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41B6E-4D81-47E9-B4FB-35514785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Foto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282E8-5FF5-4DAE-A692-CC1D8264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529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61D8D-8F69-4BDD-AF98-1BD7D50D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57625"/>
            <a:ext cx="16192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8A68CB-902D-415E-A340-47893245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957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Foto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1ABC9-60FD-4996-B506-D99108AF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5295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6B4059-BFE4-43EA-90CA-8902A217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723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Link do vídeo: preencher após publicação não listada no YouTube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28CCF7-8AD4-443B-B88C-44DEE422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FF9319-946E-4C14-90ED-3A2994AB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A02643-118D-4E81-ADCC-7DD2EF23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04124886"/>
      </p:ext>
    </p:extLst>
  </p:cSld>
</p:sld>
</file>

<file path=ppt\slides\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005EFA-CDD1-4910-BCD6-C55F9503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54E85-131C-4494-B983-940705D9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5E72E-514C-4F47-809C-83565991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 problema público é menos técnico que operacional.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70FAC-B15D-47BE-917C-CF166EB7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Demandas urbanas existem, mas o fluxo ainda costuma ser disperso, pouco rastreável e difícil de priorizar.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CCE44-E317-4616-ABCB-E2204FF4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FFBDA-17FF-430A-BD98-D5157A02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64557-E8B4-4CCE-84D7-88D0816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D44FE3-09FC-4B98-8972-A4F417F5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31432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4DF6D2-7586-42BA-AD62-E7467938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D8FB30-6AD9-46A3-9DCD-A5F2192B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9825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Para o cidadão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DE2754-2DE9-4038-8130-C0B9EFB4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33675"/>
            <a:ext cx="276225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Abertura de chamado sem retorno claro, dificuldade de acompanhar protocolo e baixa confiança no andamento.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8B300-49F6-4A59-86C9-D2D43712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38375"/>
            <a:ext cx="31432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1863E-B4BC-4AFE-8877-3E37AB96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38375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51AA26-0194-40FB-9CBD-C46D8149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409825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Para a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88CE3B-BE6D-46FC-8E17-A975CE3C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733675"/>
            <a:ext cx="276225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Fila sem critérios consistentes, pouca visão territorial e dificuldade para identificar risco de SLA.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B09EA7-97F4-4416-8F7F-0B0E1A8F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38375"/>
            <a:ext cx="31432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220B45-14EE-4705-B9BC-F2A2BB66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38375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09431E-8998-4F10-989A-472E47DC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09825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Para a política pública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546A2-84A9-43A8-9045-6B4E5DA3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33675"/>
            <a:ext cx="276225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Dados fragmentados dificultam transparência, planejamento de equipes e prestação de contas.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61874F-1B37-467A-961E-35BCA9F9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8CF48A-73A9-4902-90BA-07ECD8E3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57750"/>
            <a:ext cx="97345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A mentoria da EGESP reforçou que IA deve gerar valor público mensurável, não apenas efeito demonstrativo.</a:t>
            </a:r>
          </a:p>
        </p:txBody>
      </p:sp>
    </p:spTree>
    <p:extLst>
      <p:ext uri="{BB962C8B-B14F-4D97-AF65-F5344CB8AC3E}">
        <p14:creationId xmlns:p14="http://schemas.microsoft.com/office/powerpoint/2010/main" val="484052795"/>
      </p:ext>
    </p:extLst>
  </p:cSld>
</p:sld>
</file>

<file path=ppt\slides\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022944-65FB-4E83-AF96-CC5792C2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87D39-858E-4B5E-8FDE-6617DEED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PROTÓTIPO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CE2CB-5B70-46AC-BE64-B161CEC3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solução conecta cidadão, protocolo e gestão em uma jornada única.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1608C-2744-44F0-A810-C9ED30FA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O avanço deixa o sistema demonstrável de ponta a ponta, com telas cidadãs e administrativas.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2CD18-EE62-42A2-9CF4-A9DB0C9F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37FFC1-8D59-4E19-9060-35F489EB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F259C-417D-4D91-8BF5-E66B7CA9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5EDDD-E84B-423E-BC14-DC957905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22807-4911-417B-8B00-A87303D8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400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7DD9B-5395-45D4-8AEC-0452F09D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28900"/>
            <a:ext cx="106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Login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30152-CA13-4105-BA7B-2687171D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857500"/>
            <a:ext cx="38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254C1-1522-442B-8514-5366F90F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81250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653CC-9122-471B-9050-B4855DA2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52700"/>
            <a:ext cx="400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5966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E015E-E0D4-43FD-AEB4-A0517B79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28900"/>
            <a:ext cx="106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Solicitação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28781-A9A2-4A93-B18A-296BFFCB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857500"/>
            <a:ext cx="38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0EBDD-B9B1-41C5-98B0-AE671D20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C51655-47C3-4D11-9CD3-E9745B1D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552700"/>
            <a:ext cx="400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C3AE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C3AE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720288-2701-4D32-99D8-6D01296C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28900"/>
            <a:ext cx="106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Protocolo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46F78A-C58F-45EA-BD2A-15241C88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857500"/>
            <a:ext cx="38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8BB836-7A0A-4AEE-A245-1C4AEC0A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CF5B3C-B914-42A7-ACF6-F8A0B7FD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52700"/>
            <a:ext cx="400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066768-9B2D-40A4-99B7-4502A3BD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106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Fila admin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E46E38-E3DC-4EFE-9EF7-0EE27EDA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857500"/>
            <a:ext cx="38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2DD24F-233D-4B1C-B9D9-B194C2D6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81250"/>
            <a:ext cx="1809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8F0B6B-6EE9-4512-9892-0097C20A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552700"/>
            <a:ext cx="400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91B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91B2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191E32-D813-4010-B364-CC030A2D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28900"/>
            <a:ext cx="1066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Relatórios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718D87-E82C-46E8-937B-247F23D1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05250"/>
            <a:ext cx="114300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287E02-980F-4998-8EA5-4825D113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52875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Mapa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62C7DB-07A9-4909-926E-1B49DA7A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905250"/>
            <a:ext cx="14287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7A08EB-4A79-4A6F-87F5-5A2D9D28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95287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Dashboard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5985A3-DC15-4495-8B62-C5B15FBD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05250"/>
            <a:ext cx="171450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F53C74-2AEA-4F90-8517-622357E3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52875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Exportação XLSX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C44793-D448-490A-977C-4C799FD8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05250"/>
            <a:ext cx="12382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A3DA03-5D63-4E7F-8A1A-B00CAF58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5287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Logs IA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CA7D01-6926-497B-9FCD-02D8AF67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16192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2C1977-A2BA-4BB8-A19A-BA64CA37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52875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Acessibilidade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C642D0-0B5B-4218-962D-9B51F348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334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 sistema já tem interface simples, navegação por perfil, consulta de protocolos e painéis para acompanhamento operacional.</a:t>
            </a:r>
          </a:p>
        </p:txBody>
      </p:sp>
    </p:spTree>
    <p:extLst>
      <p:ext uri="{BB962C8B-B14F-4D97-AF65-F5344CB8AC3E}">
        <p14:creationId xmlns:p14="http://schemas.microsoft.com/office/powerpoint/2010/main" val="627164627"/>
      </p:ext>
    </p:extLst>
  </p:cSld>
</p:sld>
</file>

<file path=ppt\slides\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CE1EA6-1DF9-4ACB-AC5F-79C2C873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5C00A-D128-44AE-A8F6-9A4267E8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ARQUITETURA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162B1-2742-44F0-9A69-567D379E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 protótipo usa uma arquitetura híbrida para produção e entrega acadêmica.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9AFE76-0208-426D-BD7A-9A69B753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React e Supabase sustentam o fluxo web; o backend Java organiza API, segurança e regras de negócio.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A2AC9-7BCA-428D-B158-6A548CD2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CE577-53C7-42F3-94D2-6578102A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39DB0-FE90-4FFF-B097-CF3C8D1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B0BCE-D57F-42BE-A5E9-5F87DC33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2857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1C968B-7B00-4A1A-BB63-E3543846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55637-C21B-4026-BC0A-8226E94E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9825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Frontend Web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B1B60-3614-4ED5-BE0D-3467BB1F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33675"/>
            <a:ext cx="24765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React 19, TypeScript, Vite, Tailwind, React Router, Leaflet e Recharts.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8F415A-9EB1-48AE-B441-8547A7FB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3F218C-8336-4A28-B5B8-31DFC6C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59356B-B34B-451F-BF70-6BE99484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9825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Banco de dados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6B38AC-8FAA-4F27-B451-940444F6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33675"/>
            <a:ext cx="24765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Supabase/PostgreSQL com usuários, protocolos, prioridade IA, jobs e logs.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D20FAD-C152-45B8-9359-ECC3BD2C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38375"/>
            <a:ext cx="2857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F8621-D372-48A8-9601-CF2192DA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3837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45BA6-F311-496E-A8D6-932E84AD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09825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Backend Java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94CE60-E1C0-4826-B698-46388200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33675"/>
            <a:ext cx="24765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Spring Boot, JPA/Hibernate, JWT, controllers e camada de aplicação.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24A1CC-CF3D-49D2-BC84-94A648FF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95625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BDD93A-C77E-474B-A32A-DE531639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95625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D8D45B-24CE-4C36-BB0F-C78A8C74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19625"/>
            <a:ext cx="1476375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58CF90-48EE-4FCF-AE2E-3AAB042C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67250"/>
            <a:ext cx="14763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Autenticação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8E24E8-4AAA-4F4D-9B8A-3ED2C6C7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9625"/>
            <a:ext cx="133350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0B355B-10D8-4853-9CC5-DF688F92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67250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RLS e perfis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FEB066-1CBF-4780-AF0B-4C287EAE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619625"/>
            <a:ext cx="1571625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D2A52F-4629-4D17-AC36-2EE6A161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667250"/>
            <a:ext cx="157162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Edge Function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8C0CA5-306C-40FD-8BDA-9E5A999F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19625"/>
            <a:ext cx="20002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028F87-FFE2-41DA-A84C-5D2261B0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67250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OpenRouter/Gemini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60A5CC-19DD-4528-A622-BDC89201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10096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Prática de cibersegurança: hash de senha, controle por perfil, variáveis de ambiente, tokens e auditoria de ações de IA.</a:t>
            </a:r>
          </a:p>
        </p:txBody>
      </p:sp>
    </p:spTree>
    <p:extLst>
      <p:ext uri="{BB962C8B-B14F-4D97-AF65-F5344CB8AC3E}">
        <p14:creationId xmlns:p14="http://schemas.microsoft.com/office/powerpoint/2010/main" val="695615265"/>
      </p:ext>
    </p:extLst>
  </p:cSld>
</p:sld>
</file>

<file path=ppt\slides\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CEB1F5-00C8-4C81-9B3C-9D8A027F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5A2FC-7B8A-4B78-92FA-464A652A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880DF-94B2-4466-B95B-485DD198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 dashboard transforma protocolos em leitura gerencial.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931B5-269A-4AA5-A708-8D6D9628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 Ciência de Dados aparece na coleta, padronização, agregação e visualização das solicitações.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073CA-FA19-429A-9B9A-A6F50845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57AC55-E573-4133-BF48-B88D8933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79C82-89E8-48C2-9688-3CB76E54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19C6D-55D9-4F36-989F-C4C68370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2095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3FCAA-9908-4EF6-BF8F-9EE5E78A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E4180-39FB-4206-BBBB-3281163D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Total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78422-DEF6-470E-8113-DA96C5BC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67025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Solicitações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A934F-7D49-4639-AF32-4ED70E0F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1752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volume consolidado por período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4B0509-B6C2-4919-9DBC-AD4E09B9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38375"/>
            <a:ext cx="2095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58DCF-D2D8-433C-97F3-4158E273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38375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E0665-2AE5-47E1-AD8C-A2DD436E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86025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Fila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50F691-769C-4AEC-B1EE-D0D9A3BA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67025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Em análise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D2DA15-4E03-43EC-BD9D-A9C0A118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752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casos aguardando triagem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31A49B-10F8-498B-9416-CAE82BF8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38375"/>
            <a:ext cx="2095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6C7778-83CD-4580-B377-5D2AE139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38375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3D3815-B64D-4E2E-AACB-C9B39A00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86025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SLA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267E10-15A5-4FD5-B640-10B54F30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67025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Atraso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A415CF-D6F5-4C06-AEB8-04D08440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05150"/>
            <a:ext cx="1752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risco operacional monitorado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357314-57A9-454D-9772-975BAE79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38375"/>
            <a:ext cx="2095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B02926-2591-4780-96F7-09B7E2C3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38375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E0643F-41C1-4A10-BD2A-3E8C2354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86025"/>
            <a:ext cx="1752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59669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72B74B-AB26-405E-B0F0-0CBA5714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175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086519-7A9F-4B7C-8264-437F3662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05150"/>
            <a:ext cx="1752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taxa de conclusão por base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A21CB6-C2CC-4CFB-9C42-BF005061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52875"/>
            <a:ext cx="5048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752412-EC8A-4268-A60F-78C1DFDE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Distribuição por categoria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9A2F5D-2739-44A8-86E6-CF33AD5E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857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Física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E61663-7E75-4FA7-9166-7F2326C7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552950"/>
            <a:ext cx="22288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5CB5A1-51F0-405A-B393-8DA9BB3E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857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Visual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02FF5F-70F8-465B-8436-8B388D5F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781550"/>
            <a:ext cx="13716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E09D3E-C213-4468-A5A5-82F35060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33950"/>
            <a:ext cx="857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Auditiva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D22BFE-689C-4B49-AB22-B998C299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010150"/>
            <a:ext cx="10287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511D79-C4E5-4293-B170-DA4A98C9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62550"/>
            <a:ext cx="857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F69790-C37E-4F03-8633-7C1A8729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238750"/>
            <a:ext cx="71437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1EBC71-2813-49E6-9400-A76BFDAF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52875"/>
            <a:ext cx="4381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469012-2310-4026-9FC0-068DB181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Fluxo mensal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6EAD50-A00E-43E1-8B69-CEF43E68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95875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8FDCA8-47C6-4857-BEFB-D8DE6C30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905375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D23967-0EE4-48B0-8B51-C8754779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00625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22F004-BE4E-4BE5-86A0-946A2ADB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83C44C-5A9E-4695-A1B2-3E1BD478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67250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AE9AC9-E344-4496-9D1B-F1FDEAEF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482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B701DCF-2BB1-41B3-9BDC-7231F1E4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57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5EE9CF-9CD0-43A1-B4B2-352A96E4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EB2B68-6B3F-4628-8F73-AB2EA9E5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243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AD562C-24A4-4236-A50A-D6BE1A55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196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055410-7F28-4C5F-B788-B349811D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2862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39227531"/>
      </p:ext>
    </p:extLst>
  </p:cSld>
</p:sld>
</file>

<file path=ppt\slides\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78090E-8A98-4C03-802E-75F37C49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802A8-3CA3-4051-90B9-244BF2E3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IA FINALIZADA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84723-694A-444F-9E27-960B4EE3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IA prioriza chamados sem substituir o servidor público.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CB92E-A545-4511-B273-46C27064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 classificação de prioridade já está funcionando no painel administrativo.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2DCFF-0CB6-4CD6-A355-57ACBFA5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110D7A-D274-4D34-8AC8-A926279C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E546C-40CF-44D8-9E25-DA9A21F1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5A381D-5C05-4E2D-ADAF-5BB44EF8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EA87B-99AF-426C-98B4-D6255C03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28900"/>
            <a:ext cx="14859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Protocolo criado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E8AEF-7C3A-4A56-B652-33526091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AAD40-61D3-4659-A494-D6F3B89F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8130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E589C-1A84-4D4B-A20D-FA560408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333625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290D9C-BA9A-4A97-9EEB-C914E99A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28900"/>
            <a:ext cx="14859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Job assíncrono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A27A4D-48E9-4BB0-B573-462B7462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333625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FFE967-0A74-473A-B34C-C626BC87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78130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FFC79-B992-4E37-AFEC-8153B162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33625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61988E-5E27-42A7-93FB-0E9682E5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28900"/>
            <a:ext cx="14859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Edge Function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5F34C-B852-4629-8AAF-6A8A9690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33625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E0E20B-5F43-4285-9AF2-F22644C3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78130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B6752F-3196-450C-A506-E074CF07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33625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83FA79-1915-4C73-8628-A20C2D7D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628900"/>
            <a:ext cx="14859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Gemini 2.5 Flash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E8FEAE-C011-4E8D-B672-406C76B5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33625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18D38B-2929-4D82-BE89-A57F4BCC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78130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1CA486-5400-4DB0-8AEB-7DDF3661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333625"/>
            <a:ext cx="1714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5D420B-9208-46BE-82FC-606EE23F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859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Prioridade admin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BE3EB3-288D-48C0-B37E-6B1F0669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333625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B3888A-C60D-46B4-975E-4AAB3D55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05250"/>
            <a:ext cx="12382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8F1689-C028-4E46-B17C-51713736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5287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BAIXA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DBC66E-F544-4451-BEE2-C7C8CC65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12382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06322A-1608-4E35-BBFB-0B28F1BB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5287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MÉDIA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EEF55C-4F04-40BE-86AD-05D2F5DC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05250"/>
            <a:ext cx="12382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580C"/>
          </a:solidFill>
          <a:ln xmlns:a="http://schemas.openxmlformats.org/drawingml/2006/main" w="9525">
            <a:solidFill>
              <a:srgbClr val="EA580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FA6145-3166-49AB-A191-5482D6C2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5287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6F2EA8-1901-4103-96FF-A338B2AF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133350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553862-59E7-4AA9-8F06-559FFBAB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52875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CRÍTICA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86C253-BE5C-42CC-B6DF-43B1CF9B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05250"/>
            <a:ext cx="14287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75569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925A66-C756-4A66-9388-B69B20B7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5287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IA Falhou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971317-60CA-4576-B17F-60BEEAB7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62500"/>
            <a:ext cx="9620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Controles do gestor: regenerar IA, trocar prioridade manualmente, registrar motivo e consultar logs de auditoria.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FCF479-79A5-4335-91AB-130A9CAB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334000"/>
            <a:ext cx="9334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Status atual: IA de prioridade finalizada, com badges na fila, regeneração, troca manual e logs de auditoria.</a:t>
            </a:r>
          </a:p>
        </p:txBody>
      </p:sp>
    </p:spTree>
    <p:extLst>
      <p:ext uri="{BB962C8B-B14F-4D97-AF65-F5344CB8AC3E}">
        <p14:creationId xmlns:p14="http://schemas.microsoft.com/office/powerpoint/2010/main" val="1376436836"/>
      </p:ext>
    </p:extLst>
  </p:cSld>
</p:sld>
</file>

<file path=ppt\slides\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D8BEC5-9060-4231-9493-C96A2712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829E5-84E7-4245-B9A5-30B240AD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GOVERNANÇA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5E249-8BE6-4260-B035-43D3DA2A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IA no governo precisa ser explicável, auditável e revisada.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61A8D-6C1C-4DAC-A54A-ABA5E9EE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 proposta segue o princípio de apoio à decisão, com cuidado de LGPD e segurança desde o MVP.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B1DA1-86BC-40A2-879E-F98ABD92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B2600-32AD-4921-B440-8EBB3925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CBCEB1-432A-46F5-BB63-A1AB0808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653E5-CD6B-4FB1-ACBC-F080F157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5048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7AE6F-8480-4EA3-B322-34F4CF28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DCA520-C964-4BA6-8439-034A91A5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9825"/>
            <a:ext cx="4667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LGPD e minimização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E20D8-D5C3-4878-9FA5-697083A2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33675"/>
            <a:ext cx="4667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Evitar envio de CPF, telefone e dados sensíveis para APIs externas quando não forem necessários.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D67981-CD7C-4A1D-BBF9-421B757B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38375"/>
            <a:ext cx="5048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D6CD9-D5F1-4479-BD88-DE7F21DF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3837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15079-3B2A-4729-86D7-0FF7F3CB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09825"/>
            <a:ext cx="4667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Humano no processo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EA980-5D14-4E33-A785-8712EDC4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33675"/>
            <a:ext cx="4667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 prioridade sugerida não executa ação administrativa sozinha; o servidor revisa, troca ou regenera.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57B9E-F7CB-4C70-94CC-151DDADB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5048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F1B1C6-6431-45B7-A055-F8F6B5C1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2B358D-2A43-4A6B-A802-937E15B0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667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Auditoria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8BA11E-FEFA-4DD0-9524-9B398840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52925"/>
            <a:ext cx="4667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Tabelas ai_priority_jobs e ai_job_logs registram tentativas, origem da decisão, motivo e histórico.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455974-E063-4BCB-9598-CA3ADDC1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57625"/>
            <a:ext cx="5048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8FA63B-3A75-41D6-98FC-E705E081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5762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DFE092-E767-4FD0-B990-2A7DF04A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29075"/>
            <a:ext cx="4667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Resiliência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7400CA-E79D-461F-A5CF-3F8BD739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52925"/>
            <a:ext cx="4667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Falha de IA não bloqueia o protocolo; o sistema mostra aviso e mantém alternativa manual.</a:t>
            </a:r>
          </a:p>
        </p:txBody>
      </p:sp>
    </p:spTree>
    <p:extLst>
      <p:ext uri="{BB962C8B-B14F-4D97-AF65-F5344CB8AC3E}">
        <p14:creationId xmlns:p14="http://schemas.microsoft.com/office/powerpoint/2010/main" val="2037620420"/>
      </p:ext>
    </p:extLst>
  </p:cSld>
</p:sld>
</file>

<file path=ppt\slides\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3FE7BE-14B5-4CF8-B30B-853A9E3E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A940D-7933-4200-BDDB-8D1FE2DC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CRONOGRAMA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61785-973D-4055-9B8B-846865F8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 avanço de dados e IA foi concentrado nesta etapa da entrega.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E1567-0ACF-427E-A51E-B1AA870A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 próxima fase foca validação, geodados e melhoria da base analítica.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29C87-0094-4DD5-A9A6-D0C2CB0A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F02EE-8387-4B8D-836B-F9B120A9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7045C1-641B-4A67-988C-D22066C2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7D1838-A0EF-4059-86A0-FA83E4E8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10287000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CC5AD-5A8F-4775-A6A4-91489474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19325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Fev-Mar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85A57-7CD8-4893-9EEB-868B1E7A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1932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59669"/>
                </a:solidFill>
                <a:latin typeface="Arial"/>
                <a:ea typeface="Arial"/>
                <a:cs typeface="Arial"/>
              </a:rPr>
              <a:t>Concluído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00C44-ED09-4DFD-A91A-DDADCFB2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19325"/>
            <a:ext cx="647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problema, backlog e jornada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BB064-47A7-45AC-9417-B020DBED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10287000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6BBB9-D2F8-4707-BB8E-9DAA92D8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28925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97012-6D05-4D79-810F-55218CAD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2892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59669"/>
                </a:solidFill>
                <a:latin typeface="Arial"/>
                <a:ea typeface="Arial"/>
                <a:cs typeface="Arial"/>
              </a:rPr>
              <a:t>Concluído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DD00E-19B5-4751-B625-624F61BB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8925"/>
            <a:ext cx="647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frontend, login, protocolos e mapas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DBDD-D0D6-4EB5-A1E3-007DCBF9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10287000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B1B85-DC16-47D3-9487-3D380FC7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38525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Maio 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63EA31-B539-4316-88D8-E7DCD142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3852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59669"/>
                </a:solidFill>
                <a:latin typeface="Arial"/>
                <a:ea typeface="Arial"/>
                <a:cs typeface="Arial"/>
              </a:rPr>
              <a:t>Concluído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290ED4-1A62-4CCD-B8F1-99ACA01B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38525"/>
            <a:ext cx="647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mentoria EGESP e ajuste de foco em dados/IA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036A9-46FC-44BB-893F-56763927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10287000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BA8FDD-2447-489C-A090-565A9CA3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48125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Maio 22-25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B83B14-2D8B-4978-BD15-B997747D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4812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59669"/>
                </a:solidFill>
                <a:latin typeface="Arial"/>
                <a:ea typeface="Arial"/>
                <a:cs typeface="Arial"/>
              </a:rPr>
              <a:t>Concluído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AEC1D9-ED97-4733-980F-1D54BF84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48125"/>
            <a:ext cx="647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migrations IA, Edge Function, prioridade, logs e materiais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A75EC2-D39D-40BF-93E7-A3590F9C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33900"/>
            <a:ext cx="10287000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44A424-39F9-4ACF-850E-F51DCB53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57725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Junho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39D862-A834-49B8-AC01-27A02463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5772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Em andamento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6A376B-72EA-47FA-B12C-364C5F39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57725"/>
            <a:ext cx="647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geodados, filtros e testes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E14A7F-454E-4C86-954A-E607E989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10287000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45165-7A15-44E1-9BCB-B237D98E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67325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Julho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687A60-7E3B-4DEA-8655-E32BB28B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67325"/>
            <a:ext cx="142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C3AED"/>
                </a:solidFill>
                <a:latin typeface="Arial"/>
                <a:ea typeface="Arial"/>
                <a:cs typeface="Arial"/>
              </a:rPr>
              <a:t>Futuro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F7277A-0C7C-4D37-A22E-9BFFBD7B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67325"/>
            <a:ext cx="647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predição de atraso, resumos e validação com usuários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E0264B-FF96-4E5E-8757-5C30ED99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95500"/>
            <a:ext cx="38100" cy="0"/>
          </a:xfrm>
          <a:prstGeom xmlns:a="http://schemas.openxmlformats.org/drawingml/2006/main"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907855418"/>
      </p:ext>
    </p:extLst>
  </p:cSld>
</p:sld>
</file>

<file path=ppt\slides\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D1D2C9-F680-4FEB-BDDC-7DA11B76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552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98F90-5C72-478C-872E-DBEA1149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VÍDEO PITCH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38A06-D8BF-4B19-98D0-A919A811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9620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Roteiro de demonstração para cerca de 5 minutos.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9E4C2-1ACB-4C45-BB50-219A0A32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Os slides guiam a fala e a navegação nas telas já implementadas.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0C001-2982-4E3E-9B9C-BAE21553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0C7F8-5858-4D68-B1F1-997ADD32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24695-6DB0-4EBC-ACDA-266A4492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F079D6-0513-406C-A267-41A90808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6453D-3604-4128-B536-4F0FA905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F403AF-55D4-49D7-9BB2-09977A33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0:00 - Grupo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41DBE9-38E5-4DC0-B566-743BA9EC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2857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Apresentar integrantes, projeto e contexto HackGov/FIAP + EGESP.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038916-567B-48F6-BC60-A9C0B690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26DA0D-FEA6-4366-B8CB-3E66822F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B0AB3-C1ED-4472-881C-4270249F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6220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0:35 - Problema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A6840-7875-484F-A0FE-F699CA23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86050"/>
            <a:ext cx="2857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Mostrar por que protocolos sem dados dificultam cidadania e gestão.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FDF93-1A92-4F4D-AB1D-B1FC7705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90750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BDB042-7B5D-4720-999E-54CA04A0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90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0441C3-2F8B-400A-99AF-F3162B45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6220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1:20 - Protótipo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AA012E-4199-492B-AD26-F6D350A8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86050"/>
            <a:ext cx="2857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Navegar por login, solicitação, protocolos, mapa e área admin.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614489-F283-461E-93FC-E109FDC2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01A920-A18B-4626-932A-8EA40ED8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E3D0F1-1969-42CA-BCF7-89997F65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2:30 - Dados e 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BFC98-C30C-4FDD-B65C-C0347026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52925"/>
            <a:ext cx="2857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Explicar KPIs, dashboard, prioridade IA, logs e revisão humana.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491FDC-94B2-474A-93E8-6E1AB0D7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57625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369AC0-B1D0-42A3-BA7D-ED7DE86A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57625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BE4C2D-2F04-4BEC-B7AD-60EB098E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29075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3:50 - Métodos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1AF443-1A7F-4888-ACE7-2A7E45D5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52925"/>
            <a:ext cx="2857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Citar stack, banco, segurança, Edge Function, Gemini e auditoria.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F03D50-C239-425D-B7CE-E0C7B249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57625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81B5ED-5D8E-4A29-97DE-3D210574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57625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F74B5F-47DB-4F4A-A833-366BF033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29075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4:35 - Próximos passos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A09370-D71A-416D-9533-24D29491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52925"/>
            <a:ext cx="2857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Fechar com cronograma, geodados, filtros e evolução analítica.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4B058E-DD48-45BA-8FB3-0AAF631C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81625"/>
            <a:ext cx="914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Ao gravar, publicar como não listado e substituir o link no arquivo LINK_VIDEO_YOUTUBE.txt.</a:t>
            </a:r>
          </a:p>
        </p:txBody>
      </p:sp>
    </p:spTree>
    <p:extLst>
      <p:ext uri="{BB962C8B-B14F-4D97-AF65-F5344CB8AC3E}">
        <p14:creationId xmlns:p14="http://schemas.microsoft.com/office/powerpoint/2010/main" val="1327125504"/>
      </p:ext>
    </p:extLst>
  </p:cSld>
</p:sld>
</file>

<file path=ppt\slides\slide10.xml><?xml version="1.0" encoding="utf-8"?>
<p:sld xmlns:p="http://schemas.openxmlformats.org/presentationml/2006/main">
  <p:cSld>
    <p:bg>
      <p:bgPr>
        <a:solidFill xmlns:a="http://schemas.openxmlformats.org/drawingml/2006/main">
          <a:srgbClr val="09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4D7B51-9AC9-4CC1-AB3A-5CE6F05B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04850"/>
            <a:ext cx="819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C4B3F-81FE-4499-B687-788A1438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3C5F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3C5FD"/>
                </a:solidFill>
                <a:latin typeface="Arial"/>
                <a:ea typeface="Arial"/>
                <a:cs typeface="Arial"/>
              </a:rPr>
              <a:t>FECHAMENTO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33D1F-AF3E-4CAB-8C82-A0B8AB50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33500"/>
            <a:ext cx="88582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 protocolo perdido a gestão orientada por dados.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304FC-03DE-4A86-9E8A-AF553AD1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572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O Cidadão Informa demonstra front-end, backend, banco de dados, segurança, relatórios e uma trilha concreta de IA para apoiar a triagem pública com transparência.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90648-C2AD-46D8-8696-87D78C19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67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EA1AF-FCAB-439D-8668-0E53BCEF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266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 público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C27C01-0136-4D3D-B2AD-A712E1C8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2571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resposta mais rápida e acompanhamento claro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206F0B-2ED8-4FF1-9DFF-8839C0EA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67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61DE7-3A1B-4FFD-B6E3-F43C1081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76750"/>
            <a:ext cx="266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5A385-F74A-4A3D-B596-620EB890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81550"/>
            <a:ext cx="2571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indicadores, mapa, fila e relatórios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536CEA-8D80-4CD2-908A-0243B4F8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267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8050-404C-4861-AD3E-F9C0966B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76750"/>
            <a:ext cx="266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IA responsável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A04A2-EAA8-42DA-8A0A-C2AD98B0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571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priorização com auditoria e revisão humana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8D4703-56D2-4A08-92E6-92DCCF32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9956A-B393-4CA6-8230-FBC9AB6C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Cidadão Informa | HackGov FIAP | 25/05/2026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2C739D-AD29-471E-89CC-14A1C07C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7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3217147"/>
      </p:ext>
    </p:extLst>
  </p:cSld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\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