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F488C36D-AD12-49B8-B9A1-BD46F2FF5F82}"/>
              </a:ext>
            </a:extLst>
          </p:cNvPr>
          <p:cNvSpPr>
            <a:spLocks noGrp="1"/>
          </p:cNvSpPr>
          <p:nvPr/>
        </p:nvSpPr>
        <p:spPr>
          <a:xfrm>
            <a:off x="723900" y="685800"/>
            <a:ext cx="685800" cy="66675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68FC748-126D-4BA5-B979-A5DA002F7A44}"/>
              </a:ext>
            </a:extLst>
          </p:cNvPr>
          <p:cNvSpPr>
            <a:spLocks noGrp="1"/>
          </p:cNvSpPr>
          <p:nvPr/>
        </p:nvSpPr>
        <p:spPr>
          <a:xfrm>
            <a:off x="1524000" y="552450"/>
            <a:ext cx="4000500" cy="2857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ENTERPRISE CHALLENGE | EGESP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4F25E7A-88FF-4035-A496-D0A4CED20815}"/>
              </a:ext>
            </a:extLst>
          </p:cNvPr>
          <p:cNvSpPr>
            <a:spLocks noGrp="1"/>
          </p:cNvSpPr>
          <p:nvPr/>
        </p:nvSpPr>
        <p:spPr>
          <a:xfrm>
            <a:off x="723900" y="1162050"/>
            <a:ext cx="8572500" cy="7810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Cidadão Informa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E4BAAAD-9D01-4F3B-9962-891C08EF3100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7524750" cy="8191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Ciência de Dados e IA para priorizar solicitações de zeladoria urbana com transparência, auditoria e revisão humana.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25118F5-7201-4157-A278-35470AD4DD35}"/>
              </a:ext>
            </a:extLst>
          </p:cNvPr>
          <p:cNvSpPr>
            <a:spLocks noGrp="1"/>
          </p:cNvSpPr>
          <p:nvPr/>
        </p:nvSpPr>
        <p:spPr>
          <a:xfrm>
            <a:off x="628650" y="2700338"/>
            <a:ext cx="1714500" cy="2857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42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 smtClean="0">
                <a:solidFill>
                  <a:srgbClr val="93C5FD"/>
                </a:solidFill>
                <a:latin typeface="Arial"/>
                <a:ea typeface="Arial"/>
                <a:cs typeface="Arial"/>
              </a:rPr>
              <a:t>Grupo</a:t>
            </a:r>
            <a:r>
              <a:rPr lang="pt-BR" sz="1425" b="1" dirty="0" smtClean="0">
                <a:solidFill>
                  <a:srgbClr val="93C5FD"/>
                </a:solidFill>
                <a:latin typeface="Arial"/>
                <a:ea typeface="Arial"/>
                <a:cs typeface="Arial"/>
              </a:rPr>
              <a:t>:</a:t>
            </a:r>
          </a:p>
          <a:p>
            <a:pPr algn="l">
              <a:defRPr sz="142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endParaRPr sz="1425" b="1" dirty="0">
              <a:solidFill>
                <a:srgbClr val="93C5F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6725C35-81D9-44FE-9A14-D621F4953700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1619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3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endParaRPr sz="1350" b="1" dirty="0">
              <a:solidFill>
                <a:srgbClr val="94A3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C8FF411-C0D3-427F-984B-13ED8025D03A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1619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473AFD9-02F6-4D46-A88D-1250EE204B4C}"/>
              </a:ext>
            </a:extLst>
          </p:cNvPr>
          <p:cNvSpPr>
            <a:spLocks noGrp="1"/>
          </p:cNvSpPr>
          <p:nvPr/>
        </p:nvSpPr>
        <p:spPr>
          <a:xfrm>
            <a:off x="2857500" y="4095750"/>
            <a:ext cx="1619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3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endParaRPr sz="1350" b="1" dirty="0">
              <a:solidFill>
                <a:srgbClr val="94A3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68AE5EB-22B2-4CCF-9FCA-7EF85C568DB3}"/>
              </a:ext>
            </a:extLst>
          </p:cNvPr>
          <p:cNvSpPr>
            <a:spLocks noGrp="1"/>
          </p:cNvSpPr>
          <p:nvPr/>
        </p:nvSpPr>
        <p:spPr>
          <a:xfrm>
            <a:off x="2857500" y="4552950"/>
            <a:ext cx="1619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9341B6E-4D81-47E9-B4FB-355147853FF5}"/>
              </a:ext>
            </a:extLst>
          </p:cNvPr>
          <p:cNvSpPr>
            <a:spLocks noGrp="1"/>
          </p:cNvSpPr>
          <p:nvPr/>
        </p:nvSpPr>
        <p:spPr>
          <a:xfrm>
            <a:off x="4953000" y="4095750"/>
            <a:ext cx="1619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3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endParaRPr sz="1350" b="1" dirty="0">
              <a:solidFill>
                <a:srgbClr val="94A3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73282E8-5FF5-4DAE-A692-CC1D8264269B}"/>
              </a:ext>
            </a:extLst>
          </p:cNvPr>
          <p:cNvSpPr>
            <a:spLocks noGrp="1"/>
          </p:cNvSpPr>
          <p:nvPr/>
        </p:nvSpPr>
        <p:spPr>
          <a:xfrm>
            <a:off x="4953000" y="4552950"/>
            <a:ext cx="1619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28A68CB-902D-415E-A340-478932451C07}"/>
              </a:ext>
            </a:extLst>
          </p:cNvPr>
          <p:cNvSpPr>
            <a:spLocks noGrp="1"/>
          </p:cNvSpPr>
          <p:nvPr/>
        </p:nvSpPr>
        <p:spPr>
          <a:xfrm>
            <a:off x="7048500" y="4095750"/>
            <a:ext cx="1619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3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endParaRPr sz="1350" b="1" dirty="0">
              <a:solidFill>
                <a:srgbClr val="94A3B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C51ABC9-60FD-4996-B506-D99108AFF4BB}"/>
              </a:ext>
            </a:extLst>
          </p:cNvPr>
          <p:cNvSpPr>
            <a:spLocks noGrp="1"/>
          </p:cNvSpPr>
          <p:nvPr/>
        </p:nvSpPr>
        <p:spPr>
          <a:xfrm>
            <a:off x="7048500" y="4552950"/>
            <a:ext cx="1619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896B4059-BFE4-43EA-90CA-8902A21736EB}"/>
              </a:ext>
            </a:extLst>
          </p:cNvPr>
          <p:cNvSpPr>
            <a:spLocks noGrp="1"/>
          </p:cNvSpPr>
          <p:nvPr/>
        </p:nvSpPr>
        <p:spPr>
          <a:xfrm>
            <a:off x="762000" y="5638800"/>
            <a:ext cx="7239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CBD5E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C28CCF7-8AD4-443B-B88C-44DEE422B236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1085850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0FF9319-946E-4C14-90ED-3A2994AB2155}"/>
              </a:ext>
            </a:extLst>
          </p:cNvPr>
          <p:cNvSpPr>
            <a:spLocks noGrp="1"/>
          </p:cNvSpPr>
          <p:nvPr/>
        </p:nvSpPr>
        <p:spPr>
          <a:xfrm>
            <a:off x="666750" y="6381750"/>
            <a:ext cx="5334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3A02643-118D-4E81-ADCC-7DD2EF23B630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1026" name="Picture 2" descr="https://media.licdn.com/dms/image/v2/D5603AQEFyg3JL9r72w/profile-displayphoto-scale_400_400/B56ZzdNljSGQAk-/0/1773237864783?e=1781136000&amp;v=beta&amp;t=cCI1K4dCES7bQXSOa8EE92mukrfJCRnQNiGXZPY5Oq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6399" y="2903947"/>
            <a:ext cx="2099384" cy="209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ttps://media.licdn.com/dms/image/v2/D4D03AQE1HOv7dOJivg/profile-displayphoto-scale_400_400/B4DZ3GCtcXG8Ak-/0/1777144100721?e=1781136000&amp;v=beta&amp;t=Lmc1ONm0DEwJV2B1Iw9qcrWJr81e0ft9BRgfZDLB8Rw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308" y="2903947"/>
            <a:ext cx="2099384" cy="2099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tângulo 25">
            <a:extLst>
              <a:ext uri="{FF2B5EF4-FFF2-40B4-BE49-F238E27FC236}">
                <a16:creationId xmlns:a16="http://schemas.microsoft.com/office/drawing/2014/main" id="{668FC748-126D-4BA5-B979-A5DA002F7A44}"/>
              </a:ext>
            </a:extLst>
          </p:cNvPr>
          <p:cNvSpPr>
            <a:spLocks noGrp="1"/>
          </p:cNvSpPr>
          <p:nvPr/>
        </p:nvSpPr>
        <p:spPr>
          <a:xfrm>
            <a:off x="3256996" y="5053881"/>
            <a:ext cx="1696004" cy="407838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lang="pt-BR" sz="1125" b="1" dirty="0" smtClean="0">
                <a:solidFill>
                  <a:srgbClr val="93C5FD"/>
                </a:solidFill>
                <a:latin typeface="Arial"/>
                <a:ea typeface="Arial"/>
                <a:cs typeface="Arial"/>
              </a:rPr>
              <a:t>Luis Gustavo </a:t>
            </a:r>
            <a:r>
              <a:rPr lang="pt-BR" sz="1125" b="1" dirty="0" err="1" smtClean="0">
                <a:solidFill>
                  <a:srgbClr val="93C5FD"/>
                </a:solidFill>
                <a:latin typeface="Arial"/>
                <a:ea typeface="Arial"/>
                <a:cs typeface="Arial"/>
              </a:rPr>
              <a:t>Rivalta</a:t>
            </a:r>
            <a:endParaRPr lang="pt-BR" sz="1125" b="1" dirty="0" smtClean="0">
              <a:solidFill>
                <a:srgbClr val="93C5FD"/>
              </a:solidFill>
              <a:latin typeface="Arial"/>
              <a:ea typeface="Arial"/>
              <a:cs typeface="Arial"/>
            </a:endParaRPr>
          </a:p>
          <a:p>
            <a:pPr>
              <a:defRPr sz="112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lang="pt-BR" sz="1125" b="1" dirty="0" smtClean="0">
                <a:solidFill>
                  <a:srgbClr val="93C5FD"/>
                </a:solidFill>
                <a:latin typeface="Arial"/>
                <a:ea typeface="Arial"/>
                <a:cs typeface="Arial"/>
              </a:rPr>
              <a:t>RM: 561742</a:t>
            </a:r>
            <a:endParaRPr sz="1125" b="1" dirty="0">
              <a:solidFill>
                <a:srgbClr val="93C5F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668FC748-126D-4BA5-B979-A5DA002F7A44}"/>
              </a:ext>
            </a:extLst>
          </p:cNvPr>
          <p:cNvSpPr>
            <a:spLocks noGrp="1"/>
          </p:cNvSpPr>
          <p:nvPr/>
        </p:nvSpPr>
        <p:spPr>
          <a:xfrm>
            <a:off x="7508105" y="5053881"/>
            <a:ext cx="1696004" cy="407838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lang="pt-BR" sz="1125" b="1" dirty="0" smtClean="0">
                <a:solidFill>
                  <a:srgbClr val="93C5FD"/>
                </a:solidFill>
                <a:latin typeface="Arial"/>
                <a:ea typeface="Arial"/>
                <a:cs typeface="Arial"/>
              </a:rPr>
              <a:t>Gabriel Vilela</a:t>
            </a:r>
          </a:p>
          <a:p>
            <a:pPr algn="l">
              <a:defRPr sz="112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lang="pt-BR" sz="1125" b="1" dirty="0" smtClean="0">
                <a:solidFill>
                  <a:srgbClr val="93C5FD"/>
                </a:solidFill>
                <a:latin typeface="Arial"/>
                <a:ea typeface="Arial"/>
                <a:cs typeface="Arial"/>
              </a:rPr>
              <a:t>RM: 562125</a:t>
            </a:r>
            <a:endParaRPr sz="1125" b="1" dirty="0">
              <a:solidFill>
                <a:srgbClr val="93C5FD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0412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DB005EFA-CDD1-4910-BCD6-C55F9503F914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52450" cy="571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EB54E85-131C-4494-B983-940705D902E5}"/>
              </a:ext>
            </a:extLst>
          </p:cNvPr>
          <p:cNvSpPr>
            <a:spLocks noGrp="1"/>
          </p:cNvSpPr>
          <p:nvPr/>
        </p:nvSpPr>
        <p:spPr>
          <a:xfrm>
            <a:off x="1295400" y="371475"/>
            <a:ext cx="3429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CONTEXTO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145E72E-514C-4F47-809C-83565991D791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9620250" cy="933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 problema público é menos técnico que operacional.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5470FAC-B15D-47BE-917C-CF166EB74688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93345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Demandas urbanas existem, mas o fluxo ainda costuma ser disperso, pouco rastreável e difícil de priorizar.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77CCE44-E317-4616-ABCB-E2204FF41322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1085850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01FFBDA-17FF-430A-BD98-D5157A02C0E4}"/>
              </a:ext>
            </a:extLst>
          </p:cNvPr>
          <p:cNvSpPr>
            <a:spLocks noGrp="1"/>
          </p:cNvSpPr>
          <p:nvPr/>
        </p:nvSpPr>
        <p:spPr>
          <a:xfrm>
            <a:off x="666750" y="6381750"/>
            <a:ext cx="5334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E064557-E8B4-4CCE-84D7-88D0816510E8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37D44FE3-09FC-4B98-8972-A4F417F5D1C8}"/>
              </a:ext>
            </a:extLst>
          </p:cNvPr>
          <p:cNvSpPr>
            <a:spLocks noGrp="1"/>
          </p:cNvSpPr>
          <p:nvPr/>
        </p:nvSpPr>
        <p:spPr>
          <a:xfrm>
            <a:off x="723900" y="2238375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F4DF6D2-7586-42BA-AD62-E7467938C092}"/>
              </a:ext>
            </a:extLst>
          </p:cNvPr>
          <p:cNvSpPr>
            <a:spLocks noGrp="1"/>
          </p:cNvSpPr>
          <p:nvPr/>
        </p:nvSpPr>
        <p:spPr>
          <a:xfrm>
            <a:off x="723900" y="2238375"/>
            <a:ext cx="66675" cy="21907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CD8FB30-6AD9-46A3-9DCD-A5F2192BC375}"/>
              </a:ext>
            </a:extLst>
          </p:cNvPr>
          <p:cNvSpPr>
            <a:spLocks noGrp="1"/>
          </p:cNvSpPr>
          <p:nvPr/>
        </p:nvSpPr>
        <p:spPr>
          <a:xfrm>
            <a:off x="933450" y="2409825"/>
            <a:ext cx="2762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Para o cidadão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ADE2754-2DE9-4038-8130-C0B9EFB44569}"/>
              </a:ext>
            </a:extLst>
          </p:cNvPr>
          <p:cNvSpPr>
            <a:spLocks noGrp="1"/>
          </p:cNvSpPr>
          <p:nvPr/>
        </p:nvSpPr>
        <p:spPr>
          <a:xfrm>
            <a:off x="933450" y="2733675"/>
            <a:ext cx="2762250" cy="16192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Abertura de chamado sem retorno claro, dificuldade de acompanhar protocolo e baixa confiança no andamento.</a:t>
            </a:r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79F8B300-49F6-4A59-86C9-D2D43712D54B}"/>
              </a:ext>
            </a:extLst>
          </p:cNvPr>
          <p:cNvSpPr>
            <a:spLocks noGrp="1"/>
          </p:cNvSpPr>
          <p:nvPr/>
        </p:nvSpPr>
        <p:spPr>
          <a:xfrm>
            <a:off x="4524375" y="2238375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721863E-B4BC-4AFE-8877-3E37AB962042}"/>
              </a:ext>
            </a:extLst>
          </p:cNvPr>
          <p:cNvSpPr>
            <a:spLocks noGrp="1"/>
          </p:cNvSpPr>
          <p:nvPr/>
        </p:nvSpPr>
        <p:spPr>
          <a:xfrm>
            <a:off x="4524375" y="2238375"/>
            <a:ext cx="66675" cy="219075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651AA26-0194-40FB-9CBD-C46D81493A2A}"/>
              </a:ext>
            </a:extLst>
          </p:cNvPr>
          <p:cNvSpPr>
            <a:spLocks noGrp="1"/>
          </p:cNvSpPr>
          <p:nvPr/>
        </p:nvSpPr>
        <p:spPr>
          <a:xfrm>
            <a:off x="4733925" y="2409825"/>
            <a:ext cx="2762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Para a gestão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E88CE3B-BE6D-46FC-8E17-A975CE3CA4EA}"/>
              </a:ext>
            </a:extLst>
          </p:cNvPr>
          <p:cNvSpPr>
            <a:spLocks noGrp="1"/>
          </p:cNvSpPr>
          <p:nvPr/>
        </p:nvSpPr>
        <p:spPr>
          <a:xfrm>
            <a:off x="4733925" y="2733675"/>
            <a:ext cx="2762250" cy="16192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Fila sem critérios consistentes, pouca visão territorial e dificuldade para identificar risco de SLA.</a:t>
            </a:r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4BB09EA7-97F4-4416-8F7F-0B0E1A8F8BFB}"/>
              </a:ext>
            </a:extLst>
          </p:cNvPr>
          <p:cNvSpPr>
            <a:spLocks noGrp="1"/>
          </p:cNvSpPr>
          <p:nvPr/>
        </p:nvSpPr>
        <p:spPr>
          <a:xfrm>
            <a:off x="8324850" y="2238375"/>
            <a:ext cx="3143250" cy="219075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61220B45-14EE-4705-B9BC-F2A2BB665337}"/>
              </a:ext>
            </a:extLst>
          </p:cNvPr>
          <p:cNvSpPr>
            <a:spLocks noGrp="1"/>
          </p:cNvSpPr>
          <p:nvPr/>
        </p:nvSpPr>
        <p:spPr>
          <a:xfrm>
            <a:off x="8324850" y="2238375"/>
            <a:ext cx="66675" cy="219075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FE09431E-8998-4F10-989A-472E47DC7097}"/>
              </a:ext>
            </a:extLst>
          </p:cNvPr>
          <p:cNvSpPr>
            <a:spLocks noGrp="1"/>
          </p:cNvSpPr>
          <p:nvPr/>
        </p:nvSpPr>
        <p:spPr>
          <a:xfrm>
            <a:off x="8534400" y="2409825"/>
            <a:ext cx="2762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Para a política pública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DDB546A2-84A9-43A8-9045-6B4E5DA3D80D}"/>
              </a:ext>
            </a:extLst>
          </p:cNvPr>
          <p:cNvSpPr>
            <a:spLocks noGrp="1"/>
          </p:cNvSpPr>
          <p:nvPr/>
        </p:nvSpPr>
        <p:spPr>
          <a:xfrm>
            <a:off x="8534400" y="2733675"/>
            <a:ext cx="2762250" cy="16192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Dados fragmentados dificultam transparência, planejamento de equipes e prestação de contas.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961874F-1B37-467A-961E-35BCA9F920C2}"/>
              </a:ext>
            </a:extLst>
          </p:cNvPr>
          <p:cNvSpPr>
            <a:spLocks noGrp="1"/>
          </p:cNvSpPr>
          <p:nvPr/>
        </p:nvSpPr>
        <p:spPr>
          <a:xfrm>
            <a:off x="952500" y="4972050"/>
            <a:ext cx="76200" cy="762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78CF48A-73A9-4902-90BA-07ECD8E31C6C}"/>
              </a:ext>
            </a:extLst>
          </p:cNvPr>
          <p:cNvSpPr>
            <a:spLocks noGrp="1"/>
          </p:cNvSpPr>
          <p:nvPr/>
        </p:nvSpPr>
        <p:spPr>
          <a:xfrm>
            <a:off x="1123950" y="4857750"/>
            <a:ext cx="973455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 mentoria da EGESP reforçou que IA deve gerar valor público mensurável, não apenas efeito demonstrativo.</a:t>
            </a:r>
          </a:p>
        </p:txBody>
      </p:sp>
    </p:spTree>
    <p:extLst>
      <p:ext uri="{BB962C8B-B14F-4D97-AF65-F5344CB8AC3E}">
        <p14:creationId xmlns:p14="http://schemas.microsoft.com/office/powerpoint/2010/main" val="48405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tângulo 37">
            <a:extLst>
              <a:ext uri="{FF2B5EF4-FFF2-40B4-BE49-F238E27FC236}">
                <a16:creationId xmlns:a16="http://schemas.microsoft.com/office/drawing/2014/main" id="{24022944-65FB-4E83-AF96-CC5792C21D9D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52450" cy="571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4A87D39-858E-4B5E-8FDE-6617DEEDFE27}"/>
              </a:ext>
            </a:extLst>
          </p:cNvPr>
          <p:cNvSpPr>
            <a:spLocks noGrp="1"/>
          </p:cNvSpPr>
          <p:nvPr/>
        </p:nvSpPr>
        <p:spPr>
          <a:xfrm>
            <a:off x="1295400" y="371475"/>
            <a:ext cx="3429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PROTÓTIPO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FDCE2CB-5B70-46AC-BE64-B161CEC354E0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9620250" cy="933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 solução conecta cidadão, protocolo e gestão em uma jornada única.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C31608C-2744-44F0-A810-C9ED30FA512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93345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 avanço deixa o sistema demonstrável de ponta a ponta, com telas cidadãs e administrativas.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552CD18-EE62-42A2-9CF4-A9DB0C9FA6FD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1085850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537FFC1-8D59-4E19-9060-35F489EB0EE2}"/>
              </a:ext>
            </a:extLst>
          </p:cNvPr>
          <p:cNvSpPr>
            <a:spLocks noGrp="1"/>
          </p:cNvSpPr>
          <p:nvPr/>
        </p:nvSpPr>
        <p:spPr>
          <a:xfrm>
            <a:off x="666750" y="6381750"/>
            <a:ext cx="5334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15F259C-417D-4D91-8BF5-E66B7CA994F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F855EDDD-E84B-423E-BC14-DC9579052B41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18097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7B22807-4911-417B-8B00-A87303D8CB92}"/>
              </a:ext>
            </a:extLst>
          </p:cNvPr>
          <p:cNvSpPr>
            <a:spLocks noGrp="1"/>
          </p:cNvSpPr>
          <p:nvPr/>
        </p:nvSpPr>
        <p:spPr>
          <a:xfrm>
            <a:off x="857250" y="2552700"/>
            <a:ext cx="400050" cy="4000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21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CB7DD9B-5395-45D4-8AEC-0452F09DC9EA}"/>
              </a:ext>
            </a:extLst>
          </p:cNvPr>
          <p:cNvSpPr>
            <a:spLocks noGrp="1"/>
          </p:cNvSpPr>
          <p:nvPr/>
        </p:nvSpPr>
        <p:spPr>
          <a:xfrm>
            <a:off x="1276350" y="2628900"/>
            <a:ext cx="1066800" cy="3429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3630152-CA13-4105-BA7B-2687171D3BE8}"/>
              </a:ext>
            </a:extLst>
          </p:cNvPr>
          <p:cNvSpPr>
            <a:spLocks noGrp="1"/>
          </p:cNvSpPr>
          <p:nvPr/>
        </p:nvSpPr>
        <p:spPr>
          <a:xfrm>
            <a:off x="2562225" y="2857500"/>
            <a:ext cx="381000" cy="381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71F254C1-1522-442B-8514-5366F90F9BF5}"/>
              </a:ext>
            </a:extLst>
          </p:cNvPr>
          <p:cNvSpPr>
            <a:spLocks noGrp="1"/>
          </p:cNvSpPr>
          <p:nvPr/>
        </p:nvSpPr>
        <p:spPr>
          <a:xfrm>
            <a:off x="2952750" y="2381250"/>
            <a:ext cx="18097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9F653CC-9122-471B-9050-B4855DA2D08E}"/>
              </a:ext>
            </a:extLst>
          </p:cNvPr>
          <p:cNvSpPr>
            <a:spLocks noGrp="1"/>
          </p:cNvSpPr>
          <p:nvPr/>
        </p:nvSpPr>
        <p:spPr>
          <a:xfrm>
            <a:off x="3124200" y="2552700"/>
            <a:ext cx="400050" cy="4000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21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96E015E-E0D4-43FD-AEB4-A0517B79E4B3}"/>
              </a:ext>
            </a:extLst>
          </p:cNvPr>
          <p:cNvSpPr>
            <a:spLocks noGrp="1"/>
          </p:cNvSpPr>
          <p:nvPr/>
        </p:nvSpPr>
        <p:spPr>
          <a:xfrm>
            <a:off x="3543300" y="2628900"/>
            <a:ext cx="1066800" cy="3429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Solicitação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84828781-A9A2-4A93-B18A-296BFFCB9E39}"/>
              </a:ext>
            </a:extLst>
          </p:cNvPr>
          <p:cNvSpPr>
            <a:spLocks noGrp="1"/>
          </p:cNvSpPr>
          <p:nvPr/>
        </p:nvSpPr>
        <p:spPr>
          <a:xfrm>
            <a:off x="4829175" y="2857500"/>
            <a:ext cx="381000" cy="381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E3E0EBDD-B9B1-41C5-98B0-AE671D2048D8}"/>
              </a:ext>
            </a:extLst>
          </p:cNvPr>
          <p:cNvSpPr>
            <a:spLocks noGrp="1"/>
          </p:cNvSpPr>
          <p:nvPr/>
        </p:nvSpPr>
        <p:spPr>
          <a:xfrm>
            <a:off x="5219700" y="2381250"/>
            <a:ext cx="18097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B5C51655-47C3-4D11-9CD3-E9745B1DC4D3}"/>
              </a:ext>
            </a:extLst>
          </p:cNvPr>
          <p:cNvSpPr>
            <a:spLocks noGrp="1"/>
          </p:cNvSpPr>
          <p:nvPr/>
        </p:nvSpPr>
        <p:spPr>
          <a:xfrm>
            <a:off x="5391150" y="2552700"/>
            <a:ext cx="400050" cy="4000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21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D720288-2701-4D32-99D8-6D01296C3A1B}"/>
              </a:ext>
            </a:extLst>
          </p:cNvPr>
          <p:cNvSpPr>
            <a:spLocks noGrp="1"/>
          </p:cNvSpPr>
          <p:nvPr/>
        </p:nvSpPr>
        <p:spPr>
          <a:xfrm>
            <a:off x="5810250" y="2628900"/>
            <a:ext cx="1066800" cy="3429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Protocolo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8E46F78A-C58F-45EA-BD2A-15241C886D97}"/>
              </a:ext>
            </a:extLst>
          </p:cNvPr>
          <p:cNvSpPr>
            <a:spLocks noGrp="1"/>
          </p:cNvSpPr>
          <p:nvPr/>
        </p:nvSpPr>
        <p:spPr>
          <a:xfrm>
            <a:off x="7096125" y="2857500"/>
            <a:ext cx="381000" cy="381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0" name="Retângulo Arredondado 19">
            <a:extLst>
              <a:ext uri="{FF2B5EF4-FFF2-40B4-BE49-F238E27FC236}">
                <a16:creationId xmlns:a16="http://schemas.microsoft.com/office/drawing/2014/main" id="{328BB836-7A0A-4AEE-A245-1C4AEC0A3017}"/>
              </a:ext>
            </a:extLst>
          </p:cNvPr>
          <p:cNvSpPr>
            <a:spLocks noGrp="1"/>
          </p:cNvSpPr>
          <p:nvPr/>
        </p:nvSpPr>
        <p:spPr>
          <a:xfrm>
            <a:off x="7486650" y="2381250"/>
            <a:ext cx="18097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4DCF5B3C-B914-42A7-ACF6-F8A0B7FD7248}"/>
              </a:ext>
            </a:extLst>
          </p:cNvPr>
          <p:cNvSpPr>
            <a:spLocks noGrp="1"/>
          </p:cNvSpPr>
          <p:nvPr/>
        </p:nvSpPr>
        <p:spPr>
          <a:xfrm>
            <a:off x="7658100" y="2552700"/>
            <a:ext cx="400050" cy="4000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21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18066768-9B2D-40A4-99B7-4502A3BDA967}"/>
              </a:ext>
            </a:extLst>
          </p:cNvPr>
          <p:cNvSpPr>
            <a:spLocks noGrp="1"/>
          </p:cNvSpPr>
          <p:nvPr/>
        </p:nvSpPr>
        <p:spPr>
          <a:xfrm>
            <a:off x="8077200" y="2628900"/>
            <a:ext cx="1066800" cy="3429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Fila admin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1E46E38-E3DC-4EFE-9EF7-0EE27EDAB4E1}"/>
              </a:ext>
            </a:extLst>
          </p:cNvPr>
          <p:cNvSpPr>
            <a:spLocks noGrp="1"/>
          </p:cNvSpPr>
          <p:nvPr/>
        </p:nvSpPr>
        <p:spPr>
          <a:xfrm>
            <a:off x="9363075" y="2857500"/>
            <a:ext cx="381000" cy="381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4" name="Retângulo Arredondado 23">
            <a:extLst>
              <a:ext uri="{FF2B5EF4-FFF2-40B4-BE49-F238E27FC236}">
                <a16:creationId xmlns:a16="http://schemas.microsoft.com/office/drawing/2014/main" id="{D72DD24F-233D-4B1C-B9D9-B194C2D60594}"/>
              </a:ext>
            </a:extLst>
          </p:cNvPr>
          <p:cNvSpPr>
            <a:spLocks noGrp="1"/>
          </p:cNvSpPr>
          <p:nvPr/>
        </p:nvSpPr>
        <p:spPr>
          <a:xfrm>
            <a:off x="9753600" y="2381250"/>
            <a:ext cx="1809750" cy="1000125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48F0B6B-6EE9-4512-9892-0097C20A2DB6}"/>
              </a:ext>
            </a:extLst>
          </p:cNvPr>
          <p:cNvSpPr>
            <a:spLocks noGrp="1"/>
          </p:cNvSpPr>
          <p:nvPr/>
        </p:nvSpPr>
        <p:spPr>
          <a:xfrm>
            <a:off x="9925050" y="2552700"/>
            <a:ext cx="400050" cy="4000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2100" b="1">
                <a:solidFill>
                  <a:srgbClr val="0891B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91B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79191E32-D813-4010-B364-CC030A2DD7F8}"/>
              </a:ext>
            </a:extLst>
          </p:cNvPr>
          <p:cNvSpPr>
            <a:spLocks noGrp="1"/>
          </p:cNvSpPr>
          <p:nvPr/>
        </p:nvSpPr>
        <p:spPr>
          <a:xfrm>
            <a:off x="10344150" y="2628900"/>
            <a:ext cx="1066800" cy="3429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Relatórios</a:t>
            </a:r>
          </a:p>
        </p:txBody>
      </p:sp>
      <p:sp>
        <p:nvSpPr>
          <p:cNvPr id="27" name="Retângulo Arredondado 26">
            <a:extLst>
              <a:ext uri="{FF2B5EF4-FFF2-40B4-BE49-F238E27FC236}">
                <a16:creationId xmlns:a16="http://schemas.microsoft.com/office/drawing/2014/main" id="{CD718D87-E82C-46E8-937B-247F23D1D18A}"/>
              </a:ext>
            </a:extLst>
          </p:cNvPr>
          <p:cNvSpPr>
            <a:spLocks noGrp="1"/>
          </p:cNvSpPr>
          <p:nvPr/>
        </p:nvSpPr>
        <p:spPr>
          <a:xfrm>
            <a:off x="1571625" y="3905250"/>
            <a:ext cx="1143000" cy="3429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5287E02-980F-4998-8EA5-4825D11346E9}"/>
              </a:ext>
            </a:extLst>
          </p:cNvPr>
          <p:cNvSpPr>
            <a:spLocks noGrp="1"/>
          </p:cNvSpPr>
          <p:nvPr/>
        </p:nvSpPr>
        <p:spPr>
          <a:xfrm>
            <a:off x="1571625" y="3952875"/>
            <a:ext cx="1143000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Mapa</a:t>
            </a:r>
          </a:p>
        </p:txBody>
      </p:sp>
      <p:sp>
        <p:nvSpPr>
          <p:cNvPr id="29" name="Retângulo Arredondado 28">
            <a:extLst>
              <a:ext uri="{FF2B5EF4-FFF2-40B4-BE49-F238E27FC236}">
                <a16:creationId xmlns:a16="http://schemas.microsoft.com/office/drawing/2014/main" id="{EE62C7DB-07A9-4909-926E-1B49DA7A66C0}"/>
              </a:ext>
            </a:extLst>
          </p:cNvPr>
          <p:cNvSpPr>
            <a:spLocks noGrp="1"/>
          </p:cNvSpPr>
          <p:nvPr/>
        </p:nvSpPr>
        <p:spPr>
          <a:xfrm>
            <a:off x="3000375" y="3905250"/>
            <a:ext cx="1428750" cy="34290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17A08EB-4A79-4A6F-87F5-5A2D9D28CB20}"/>
              </a:ext>
            </a:extLst>
          </p:cNvPr>
          <p:cNvSpPr>
            <a:spLocks noGrp="1"/>
          </p:cNvSpPr>
          <p:nvPr/>
        </p:nvSpPr>
        <p:spPr>
          <a:xfrm>
            <a:off x="3000375" y="3952875"/>
            <a:ext cx="1428750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31" name="Retângulo Arredondado 30">
            <a:extLst>
              <a:ext uri="{FF2B5EF4-FFF2-40B4-BE49-F238E27FC236}">
                <a16:creationId xmlns:a16="http://schemas.microsoft.com/office/drawing/2014/main" id="{165985A3-DC15-4495-8B62-C5B15FBD896F}"/>
              </a:ext>
            </a:extLst>
          </p:cNvPr>
          <p:cNvSpPr>
            <a:spLocks noGrp="1"/>
          </p:cNvSpPr>
          <p:nvPr/>
        </p:nvSpPr>
        <p:spPr>
          <a:xfrm>
            <a:off x="4762500" y="3905250"/>
            <a:ext cx="1714500" cy="34290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3F53C74-2AEA-4F90-8517-622357E356A0}"/>
              </a:ext>
            </a:extLst>
          </p:cNvPr>
          <p:cNvSpPr>
            <a:spLocks noGrp="1"/>
          </p:cNvSpPr>
          <p:nvPr/>
        </p:nvSpPr>
        <p:spPr>
          <a:xfrm>
            <a:off x="4762500" y="3952875"/>
            <a:ext cx="1714500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Exportação XLSX</a:t>
            </a:r>
          </a:p>
        </p:txBody>
      </p:sp>
      <p:sp>
        <p:nvSpPr>
          <p:cNvPr id="33" name="Retângulo Arredondado 32">
            <a:extLst>
              <a:ext uri="{FF2B5EF4-FFF2-40B4-BE49-F238E27FC236}">
                <a16:creationId xmlns:a16="http://schemas.microsoft.com/office/drawing/2014/main" id="{3DC44793-D448-490A-977C-4C799FD8AF0B}"/>
              </a:ext>
            </a:extLst>
          </p:cNvPr>
          <p:cNvSpPr>
            <a:spLocks noGrp="1"/>
          </p:cNvSpPr>
          <p:nvPr/>
        </p:nvSpPr>
        <p:spPr>
          <a:xfrm>
            <a:off x="6810375" y="3905250"/>
            <a:ext cx="1238250" cy="342900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47A3DA03-5D63-4E7F-8A1A-B00CAF5841AC}"/>
              </a:ext>
            </a:extLst>
          </p:cNvPr>
          <p:cNvSpPr>
            <a:spLocks noGrp="1"/>
          </p:cNvSpPr>
          <p:nvPr/>
        </p:nvSpPr>
        <p:spPr>
          <a:xfrm>
            <a:off x="6810375" y="3952875"/>
            <a:ext cx="1238250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Logs IA</a:t>
            </a:r>
          </a:p>
        </p:txBody>
      </p:sp>
      <p:sp>
        <p:nvSpPr>
          <p:cNvPr id="35" name="Retângulo Arredondado 34">
            <a:extLst>
              <a:ext uri="{FF2B5EF4-FFF2-40B4-BE49-F238E27FC236}">
                <a16:creationId xmlns:a16="http://schemas.microsoft.com/office/drawing/2014/main" id="{63CA7D01-6926-497B-9FCD-02D8AF67C1D1}"/>
              </a:ext>
            </a:extLst>
          </p:cNvPr>
          <p:cNvSpPr>
            <a:spLocks noGrp="1"/>
          </p:cNvSpPr>
          <p:nvPr/>
        </p:nvSpPr>
        <p:spPr>
          <a:xfrm>
            <a:off x="8382000" y="3905250"/>
            <a:ext cx="1619250" cy="342900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D52C1977-A2BA-4BB8-A19A-BA64CA37324B}"/>
              </a:ext>
            </a:extLst>
          </p:cNvPr>
          <p:cNvSpPr>
            <a:spLocks noGrp="1"/>
          </p:cNvSpPr>
          <p:nvPr/>
        </p:nvSpPr>
        <p:spPr>
          <a:xfrm>
            <a:off x="8382000" y="3952875"/>
            <a:ext cx="1619250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Acessibilidade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96C642D0-0B5B-4218-962D-9B51F348C7C0}"/>
              </a:ext>
            </a:extLst>
          </p:cNvPr>
          <p:cNvSpPr>
            <a:spLocks noGrp="1"/>
          </p:cNvSpPr>
          <p:nvPr/>
        </p:nvSpPr>
        <p:spPr>
          <a:xfrm>
            <a:off x="1428750" y="4762500"/>
            <a:ext cx="9334500" cy="5524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8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 sistema já tem interface simples, navegação por perfil, consulta de protocolos e painéis para acompanhamento operacional.</a:t>
            </a:r>
          </a:p>
        </p:txBody>
      </p:sp>
    </p:spTree>
    <p:extLst>
      <p:ext uri="{BB962C8B-B14F-4D97-AF65-F5344CB8AC3E}">
        <p14:creationId xmlns:p14="http://schemas.microsoft.com/office/powerpoint/2010/main" val="627164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AFCE1EA6-1DF9-4ACB-AC5F-79C2C8733D7E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52450" cy="571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F85C00A-D128-44AE-A8F6-9A4267E8A1FB}"/>
              </a:ext>
            </a:extLst>
          </p:cNvPr>
          <p:cNvSpPr>
            <a:spLocks noGrp="1"/>
          </p:cNvSpPr>
          <p:nvPr/>
        </p:nvSpPr>
        <p:spPr>
          <a:xfrm>
            <a:off x="1295400" y="371475"/>
            <a:ext cx="3429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ARQUITETURA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0F162B1-2742-44F0-9A69-567D379E9A40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9620250" cy="933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 protótipo usa uma arquitetura híbrida para produção e entrega acadêmica.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69AFE76-0208-426D-BD7A-9A69B75358D9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93345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React e Supabase sustentam o fluxo web; o backend Java organiza API, segurança e regras de negócio.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D8A2AC9-7BCA-428D-B158-6A548CD29D6E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1085850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A3CE577-53C7-42F3-94D2-6578102ACB80}"/>
              </a:ext>
            </a:extLst>
          </p:cNvPr>
          <p:cNvSpPr>
            <a:spLocks noGrp="1"/>
          </p:cNvSpPr>
          <p:nvPr/>
        </p:nvSpPr>
        <p:spPr>
          <a:xfrm>
            <a:off x="666750" y="6381750"/>
            <a:ext cx="5334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1739DB0-FE90-4FFF-B097-CF3C8D1EF1FB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505B0BCE-D57F-42BE-A5E9-5F87DC330CE1}"/>
              </a:ext>
            </a:extLst>
          </p:cNvPr>
          <p:cNvSpPr>
            <a:spLocks noGrp="1"/>
          </p:cNvSpPr>
          <p:nvPr/>
        </p:nvSpPr>
        <p:spPr>
          <a:xfrm>
            <a:off x="742950" y="2238375"/>
            <a:ext cx="2857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C1C968B-7B00-4A1A-BB63-E354384664A7}"/>
              </a:ext>
            </a:extLst>
          </p:cNvPr>
          <p:cNvSpPr>
            <a:spLocks noGrp="1"/>
          </p:cNvSpPr>
          <p:nvPr/>
        </p:nvSpPr>
        <p:spPr>
          <a:xfrm>
            <a:off x="742950" y="2238375"/>
            <a:ext cx="66675" cy="18097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CF55637-C21B-4026-BC0A-8226E94E22C6}"/>
              </a:ext>
            </a:extLst>
          </p:cNvPr>
          <p:cNvSpPr>
            <a:spLocks noGrp="1"/>
          </p:cNvSpPr>
          <p:nvPr/>
        </p:nvSpPr>
        <p:spPr>
          <a:xfrm>
            <a:off x="952500" y="2409825"/>
            <a:ext cx="24765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Frontend Web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80B1B60-3614-4ED5-BE0D-3467BB1F2F9A}"/>
              </a:ext>
            </a:extLst>
          </p:cNvPr>
          <p:cNvSpPr>
            <a:spLocks noGrp="1"/>
          </p:cNvSpPr>
          <p:nvPr/>
        </p:nvSpPr>
        <p:spPr>
          <a:xfrm>
            <a:off x="952500" y="2733675"/>
            <a:ext cx="2476500" cy="12382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React 19, TypeScript, Vite, Tailwind, React Router, Leaflet e Recharts.</a:t>
            </a:r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588F415A-9EB1-48AE-B441-8547A7FB9756}"/>
              </a:ext>
            </a:extLst>
          </p:cNvPr>
          <p:cNvSpPr>
            <a:spLocks noGrp="1"/>
          </p:cNvSpPr>
          <p:nvPr/>
        </p:nvSpPr>
        <p:spPr>
          <a:xfrm>
            <a:off x="4667250" y="2238375"/>
            <a:ext cx="2857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D3F218C-8336-4A28-B5B8-31DFC6CDE362}"/>
              </a:ext>
            </a:extLst>
          </p:cNvPr>
          <p:cNvSpPr>
            <a:spLocks noGrp="1"/>
          </p:cNvSpPr>
          <p:nvPr/>
        </p:nvSpPr>
        <p:spPr>
          <a:xfrm>
            <a:off x="4667250" y="2238375"/>
            <a:ext cx="66675" cy="180975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459356B-B34B-451F-BF70-6BE99484213B}"/>
              </a:ext>
            </a:extLst>
          </p:cNvPr>
          <p:cNvSpPr>
            <a:spLocks noGrp="1"/>
          </p:cNvSpPr>
          <p:nvPr/>
        </p:nvSpPr>
        <p:spPr>
          <a:xfrm>
            <a:off x="4876800" y="2409825"/>
            <a:ext cx="24765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Banco de dados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66B38AC-8FAA-4F27-B451-940444F637E2}"/>
              </a:ext>
            </a:extLst>
          </p:cNvPr>
          <p:cNvSpPr>
            <a:spLocks noGrp="1"/>
          </p:cNvSpPr>
          <p:nvPr/>
        </p:nvSpPr>
        <p:spPr>
          <a:xfrm>
            <a:off x="4876800" y="2733675"/>
            <a:ext cx="2476500" cy="12382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Supabase/PostgreSQL com usuários, protocolos, prioridade IA, jobs e logs.</a:t>
            </a:r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A3D20FAD-C152-45B8-9359-ECC3BD2C0E17}"/>
              </a:ext>
            </a:extLst>
          </p:cNvPr>
          <p:cNvSpPr>
            <a:spLocks noGrp="1"/>
          </p:cNvSpPr>
          <p:nvPr/>
        </p:nvSpPr>
        <p:spPr>
          <a:xfrm>
            <a:off x="8591550" y="2238375"/>
            <a:ext cx="285750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DBF8621-D372-48A8-9601-CF2192DAEE1E}"/>
              </a:ext>
            </a:extLst>
          </p:cNvPr>
          <p:cNvSpPr>
            <a:spLocks noGrp="1"/>
          </p:cNvSpPr>
          <p:nvPr/>
        </p:nvSpPr>
        <p:spPr>
          <a:xfrm>
            <a:off x="8591550" y="2238375"/>
            <a:ext cx="66675" cy="180975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3345BA6-F311-496E-A8D6-932E84AD57BD}"/>
              </a:ext>
            </a:extLst>
          </p:cNvPr>
          <p:cNvSpPr>
            <a:spLocks noGrp="1"/>
          </p:cNvSpPr>
          <p:nvPr/>
        </p:nvSpPr>
        <p:spPr>
          <a:xfrm>
            <a:off x="8801100" y="2409825"/>
            <a:ext cx="24765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Backend Java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B094CE60-E1C0-4826-B698-46388200073E}"/>
              </a:ext>
            </a:extLst>
          </p:cNvPr>
          <p:cNvSpPr>
            <a:spLocks noGrp="1"/>
          </p:cNvSpPr>
          <p:nvPr/>
        </p:nvSpPr>
        <p:spPr>
          <a:xfrm>
            <a:off x="8801100" y="2733675"/>
            <a:ext cx="2476500" cy="12382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Spring Boot, JPA/Hibernate, JWT, controllers e camada de aplicação.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A24A1CC-CF3D-49D2-BC84-94A648FF0FBA}"/>
              </a:ext>
            </a:extLst>
          </p:cNvPr>
          <p:cNvSpPr>
            <a:spLocks noGrp="1"/>
          </p:cNvSpPr>
          <p:nvPr/>
        </p:nvSpPr>
        <p:spPr>
          <a:xfrm>
            <a:off x="3619500" y="3095625"/>
            <a:ext cx="1047750" cy="381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DBDD93A-C77E-474B-A32A-DE531639F079}"/>
              </a:ext>
            </a:extLst>
          </p:cNvPr>
          <p:cNvSpPr>
            <a:spLocks noGrp="1"/>
          </p:cNvSpPr>
          <p:nvPr/>
        </p:nvSpPr>
        <p:spPr>
          <a:xfrm>
            <a:off x="7524750" y="3095625"/>
            <a:ext cx="1047750" cy="38100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22" name="Retângulo Arredondado 21">
            <a:extLst>
              <a:ext uri="{FF2B5EF4-FFF2-40B4-BE49-F238E27FC236}">
                <a16:creationId xmlns:a16="http://schemas.microsoft.com/office/drawing/2014/main" id="{EED8D45B-24CE-4C36-BB0F-C78A8C74BBBA}"/>
              </a:ext>
            </a:extLst>
          </p:cNvPr>
          <p:cNvSpPr>
            <a:spLocks noGrp="1"/>
          </p:cNvSpPr>
          <p:nvPr/>
        </p:nvSpPr>
        <p:spPr>
          <a:xfrm>
            <a:off x="1905000" y="4619625"/>
            <a:ext cx="1476375" cy="3429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4D58CF90-48EE-4FCF-AE2E-3AAB042C2C1C}"/>
              </a:ext>
            </a:extLst>
          </p:cNvPr>
          <p:cNvSpPr>
            <a:spLocks noGrp="1"/>
          </p:cNvSpPr>
          <p:nvPr/>
        </p:nvSpPr>
        <p:spPr>
          <a:xfrm>
            <a:off x="1905000" y="4667250"/>
            <a:ext cx="1476375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Autenticação</a:t>
            </a:r>
          </a:p>
        </p:txBody>
      </p:sp>
      <p:sp>
        <p:nvSpPr>
          <p:cNvPr id="24" name="Retângulo Arredondado 23">
            <a:extLst>
              <a:ext uri="{FF2B5EF4-FFF2-40B4-BE49-F238E27FC236}">
                <a16:creationId xmlns:a16="http://schemas.microsoft.com/office/drawing/2014/main" id="{7E8E24E8-4AAA-4F4D-9B8A-3ED2C6C75CB3}"/>
              </a:ext>
            </a:extLst>
          </p:cNvPr>
          <p:cNvSpPr>
            <a:spLocks noGrp="1"/>
          </p:cNvSpPr>
          <p:nvPr/>
        </p:nvSpPr>
        <p:spPr>
          <a:xfrm>
            <a:off x="3857625" y="4619625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20B355B-10D8-4853-9CC5-DF688F92A965}"/>
              </a:ext>
            </a:extLst>
          </p:cNvPr>
          <p:cNvSpPr>
            <a:spLocks noGrp="1"/>
          </p:cNvSpPr>
          <p:nvPr/>
        </p:nvSpPr>
        <p:spPr>
          <a:xfrm>
            <a:off x="3857625" y="4667250"/>
            <a:ext cx="1333500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RLS e perfis</a:t>
            </a:r>
          </a:p>
        </p:txBody>
      </p:sp>
      <p:sp>
        <p:nvSpPr>
          <p:cNvPr id="26" name="Retângulo Arredondado 25">
            <a:extLst>
              <a:ext uri="{FF2B5EF4-FFF2-40B4-BE49-F238E27FC236}">
                <a16:creationId xmlns:a16="http://schemas.microsoft.com/office/drawing/2014/main" id="{09FEB066-1CBF-4780-AF0B-4C287EAE4A70}"/>
              </a:ext>
            </a:extLst>
          </p:cNvPr>
          <p:cNvSpPr>
            <a:spLocks noGrp="1"/>
          </p:cNvSpPr>
          <p:nvPr/>
        </p:nvSpPr>
        <p:spPr>
          <a:xfrm>
            <a:off x="5667375" y="4619625"/>
            <a:ext cx="1571625" cy="34290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77D2A52F-4629-4D17-AC36-2EE6A1615ED1}"/>
              </a:ext>
            </a:extLst>
          </p:cNvPr>
          <p:cNvSpPr>
            <a:spLocks noGrp="1"/>
          </p:cNvSpPr>
          <p:nvPr/>
        </p:nvSpPr>
        <p:spPr>
          <a:xfrm>
            <a:off x="5667375" y="4667250"/>
            <a:ext cx="1571625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Edge Function</a:t>
            </a:r>
          </a:p>
        </p:txBody>
      </p:sp>
      <p:sp>
        <p:nvSpPr>
          <p:cNvPr id="28" name="Retângulo Arredondado 27">
            <a:extLst>
              <a:ext uri="{FF2B5EF4-FFF2-40B4-BE49-F238E27FC236}">
                <a16:creationId xmlns:a16="http://schemas.microsoft.com/office/drawing/2014/main" id="{DE8C0CA5-306C-40FD-8BDA-9E5A999FBDBF}"/>
              </a:ext>
            </a:extLst>
          </p:cNvPr>
          <p:cNvSpPr>
            <a:spLocks noGrp="1"/>
          </p:cNvSpPr>
          <p:nvPr/>
        </p:nvSpPr>
        <p:spPr>
          <a:xfrm>
            <a:off x="7715250" y="4619625"/>
            <a:ext cx="2000250" cy="34290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91028F87-FFE2-41DA-A84C-5D2261B068C0}"/>
              </a:ext>
            </a:extLst>
          </p:cNvPr>
          <p:cNvSpPr>
            <a:spLocks noGrp="1"/>
          </p:cNvSpPr>
          <p:nvPr/>
        </p:nvSpPr>
        <p:spPr>
          <a:xfrm>
            <a:off x="7715250" y="4667250"/>
            <a:ext cx="2000250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OpenRouter/Gemini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6360A5CC-19DD-4528-A622-BDC892011B8F}"/>
              </a:ext>
            </a:extLst>
          </p:cNvPr>
          <p:cNvSpPr>
            <a:spLocks noGrp="1"/>
          </p:cNvSpPr>
          <p:nvPr/>
        </p:nvSpPr>
        <p:spPr>
          <a:xfrm>
            <a:off x="1047750" y="5286375"/>
            <a:ext cx="10096500" cy="4191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Prática de cibersegurança: hash de senha, controle por perfil, variáveis de ambiente, tokens e auditoria de ações de IA.</a:t>
            </a:r>
          </a:p>
        </p:txBody>
      </p:sp>
    </p:spTree>
    <p:extLst>
      <p:ext uri="{BB962C8B-B14F-4D97-AF65-F5344CB8AC3E}">
        <p14:creationId xmlns:p14="http://schemas.microsoft.com/office/powerpoint/2010/main" val="69561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tângulo 50">
            <a:extLst>
              <a:ext uri="{FF2B5EF4-FFF2-40B4-BE49-F238E27FC236}">
                <a16:creationId xmlns:a16="http://schemas.microsoft.com/office/drawing/2014/main" id="{80CEB1F5-00C8-4C81-9B3C-9D8A027F1857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52450" cy="571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935A2FC-7B8A-4B78-92FA-464A652AE468}"/>
              </a:ext>
            </a:extLst>
          </p:cNvPr>
          <p:cNvSpPr>
            <a:spLocks noGrp="1"/>
          </p:cNvSpPr>
          <p:nvPr/>
        </p:nvSpPr>
        <p:spPr>
          <a:xfrm>
            <a:off x="1295400" y="371475"/>
            <a:ext cx="3429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DADOS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83880DF-94B2-4466-B95B-485DD19879D8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9620250" cy="933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 dashboard transforma protocolos em leitura gerencial.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0931B5-269A-4AA5-A708-8D6D9628EAE9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93345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Ciência de Dados aparece na coleta, padronização, agregação e visualização das solicitações.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32073CA-FA19-429A-9B9A-A6F508452AA2}"/>
              </a:ext>
            </a:extLst>
          </p:cNvPr>
          <p:cNvSpPr>
            <a:spLocks noGrp="1"/>
          </p:cNvSpPr>
          <p:nvPr/>
        </p:nvSpPr>
        <p:spPr>
          <a:xfrm>
            <a:off x="632012" y="6267450"/>
            <a:ext cx="1085850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057AC55-E573-4133-BF48-B88D8933AD5A}"/>
              </a:ext>
            </a:extLst>
          </p:cNvPr>
          <p:cNvSpPr>
            <a:spLocks noGrp="1"/>
          </p:cNvSpPr>
          <p:nvPr/>
        </p:nvSpPr>
        <p:spPr>
          <a:xfrm>
            <a:off x="666750" y="6381750"/>
            <a:ext cx="5334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3879C82-89E8-48C2-9688-3CB76E54AF81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95619C6D-55D9-4F36-989F-C4C68370EB84}"/>
              </a:ext>
            </a:extLst>
          </p:cNvPr>
          <p:cNvSpPr>
            <a:spLocks noGrp="1"/>
          </p:cNvSpPr>
          <p:nvPr/>
        </p:nvSpPr>
        <p:spPr>
          <a:xfrm>
            <a:off x="742950" y="2238375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DC3FCAA-9908-4EF6-BF8F-9EE5E78A7FEA}"/>
              </a:ext>
            </a:extLst>
          </p:cNvPr>
          <p:cNvSpPr>
            <a:spLocks noGrp="1"/>
          </p:cNvSpPr>
          <p:nvPr/>
        </p:nvSpPr>
        <p:spPr>
          <a:xfrm>
            <a:off x="742950" y="2238375"/>
            <a:ext cx="2095500" cy="4762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AEE4180-39FB-4206-BBBB-3281163DC7D8}"/>
              </a:ext>
            </a:extLst>
          </p:cNvPr>
          <p:cNvSpPr>
            <a:spLocks noGrp="1"/>
          </p:cNvSpPr>
          <p:nvPr/>
        </p:nvSpPr>
        <p:spPr>
          <a:xfrm>
            <a:off x="914400" y="2486025"/>
            <a:ext cx="1752600" cy="3810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24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Total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1978422-DEF6-470E-8113-DA96C5BC666F}"/>
              </a:ext>
            </a:extLst>
          </p:cNvPr>
          <p:cNvSpPr>
            <a:spLocks noGrp="1"/>
          </p:cNvSpPr>
          <p:nvPr/>
        </p:nvSpPr>
        <p:spPr>
          <a:xfrm>
            <a:off x="914400" y="2867025"/>
            <a:ext cx="17526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Solicitações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E4A934F-7D49-4639-AF32-4ED70E0FAFDC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1752600" cy="2095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volume consolidado por período</a:t>
            </a:r>
          </a:p>
        </p:txBody>
      </p:sp>
      <p:sp>
        <p:nvSpPr>
          <p:cNvPr id="13" name="Retângulo Arredondado 12">
            <a:extLst>
              <a:ext uri="{FF2B5EF4-FFF2-40B4-BE49-F238E27FC236}">
                <a16:creationId xmlns:a16="http://schemas.microsoft.com/office/drawing/2014/main" id="{424B0509-B6C2-4919-9DBC-AD4E09B9D91E}"/>
              </a:ext>
            </a:extLst>
          </p:cNvPr>
          <p:cNvSpPr>
            <a:spLocks noGrp="1"/>
          </p:cNvSpPr>
          <p:nvPr/>
        </p:nvSpPr>
        <p:spPr>
          <a:xfrm>
            <a:off x="3143250" y="2238375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5A58DCF-D2D8-433C-97F3-4158E273E7BE}"/>
              </a:ext>
            </a:extLst>
          </p:cNvPr>
          <p:cNvSpPr>
            <a:spLocks noGrp="1"/>
          </p:cNvSpPr>
          <p:nvPr/>
        </p:nvSpPr>
        <p:spPr>
          <a:xfrm>
            <a:off x="3143250" y="2238375"/>
            <a:ext cx="2095500" cy="4762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50E0665-2AE5-47E1-AD8C-A2DD436EB3F2}"/>
              </a:ext>
            </a:extLst>
          </p:cNvPr>
          <p:cNvSpPr>
            <a:spLocks noGrp="1"/>
          </p:cNvSpPr>
          <p:nvPr/>
        </p:nvSpPr>
        <p:spPr>
          <a:xfrm>
            <a:off x="3314700" y="2486025"/>
            <a:ext cx="1752600" cy="3810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24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Fila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5A50F691-769C-4AEC-B1EE-D0D9A3BA5EA7}"/>
              </a:ext>
            </a:extLst>
          </p:cNvPr>
          <p:cNvSpPr>
            <a:spLocks noGrp="1"/>
          </p:cNvSpPr>
          <p:nvPr/>
        </p:nvSpPr>
        <p:spPr>
          <a:xfrm>
            <a:off x="3314700" y="2867025"/>
            <a:ext cx="17526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Em análise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2D2DA15-4E03-43EC-BD9D-A9C0A1189CFE}"/>
              </a:ext>
            </a:extLst>
          </p:cNvPr>
          <p:cNvSpPr>
            <a:spLocks noGrp="1"/>
          </p:cNvSpPr>
          <p:nvPr/>
        </p:nvSpPr>
        <p:spPr>
          <a:xfrm>
            <a:off x="3314700" y="3105150"/>
            <a:ext cx="1752600" cy="2095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casos aguardando triagem</a:t>
            </a:r>
          </a:p>
        </p:txBody>
      </p:sp>
      <p:sp>
        <p:nvSpPr>
          <p:cNvPr id="18" name="Retângulo Arredondado 17">
            <a:extLst>
              <a:ext uri="{FF2B5EF4-FFF2-40B4-BE49-F238E27FC236}">
                <a16:creationId xmlns:a16="http://schemas.microsoft.com/office/drawing/2014/main" id="{3131A49B-10F8-498B-9416-CAE82BF8DE91}"/>
              </a:ext>
            </a:extLst>
          </p:cNvPr>
          <p:cNvSpPr>
            <a:spLocks noGrp="1"/>
          </p:cNvSpPr>
          <p:nvPr/>
        </p:nvSpPr>
        <p:spPr>
          <a:xfrm>
            <a:off x="5543550" y="2238375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16C7778-83CD-4580-B377-5D2AE139AB0A}"/>
              </a:ext>
            </a:extLst>
          </p:cNvPr>
          <p:cNvSpPr>
            <a:spLocks noGrp="1"/>
          </p:cNvSpPr>
          <p:nvPr/>
        </p:nvSpPr>
        <p:spPr>
          <a:xfrm>
            <a:off x="5543550" y="2238375"/>
            <a:ext cx="2095500" cy="47625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83D3815-B64D-4E2E-AACB-C9B39A00CE8A}"/>
              </a:ext>
            </a:extLst>
          </p:cNvPr>
          <p:cNvSpPr>
            <a:spLocks noGrp="1"/>
          </p:cNvSpPr>
          <p:nvPr/>
        </p:nvSpPr>
        <p:spPr>
          <a:xfrm>
            <a:off x="5715000" y="2486025"/>
            <a:ext cx="1752600" cy="3810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24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DC2626"/>
                </a:solidFill>
                <a:latin typeface="Arial"/>
                <a:ea typeface="Arial"/>
                <a:cs typeface="Arial"/>
              </a:rPr>
              <a:t>SLA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AA267E10-15A5-4FD5-B640-10B54F30B632}"/>
              </a:ext>
            </a:extLst>
          </p:cNvPr>
          <p:cNvSpPr>
            <a:spLocks noGrp="1"/>
          </p:cNvSpPr>
          <p:nvPr/>
        </p:nvSpPr>
        <p:spPr>
          <a:xfrm>
            <a:off x="5715000" y="2867025"/>
            <a:ext cx="17526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Atraso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6A415CF-D6F5-4C06-AEB8-04D08440E680}"/>
              </a:ext>
            </a:extLst>
          </p:cNvPr>
          <p:cNvSpPr>
            <a:spLocks noGrp="1"/>
          </p:cNvSpPr>
          <p:nvPr/>
        </p:nvSpPr>
        <p:spPr>
          <a:xfrm>
            <a:off x="5715000" y="3105150"/>
            <a:ext cx="1752600" cy="2095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risco operacional monitorado</a:t>
            </a:r>
          </a:p>
        </p:txBody>
      </p:sp>
      <p:sp>
        <p:nvSpPr>
          <p:cNvPr id="23" name="Retângulo Arredondado 22">
            <a:extLst>
              <a:ext uri="{FF2B5EF4-FFF2-40B4-BE49-F238E27FC236}">
                <a16:creationId xmlns:a16="http://schemas.microsoft.com/office/drawing/2014/main" id="{23357314-57A9-454D-9772-975BAE793A15}"/>
              </a:ext>
            </a:extLst>
          </p:cNvPr>
          <p:cNvSpPr>
            <a:spLocks noGrp="1"/>
          </p:cNvSpPr>
          <p:nvPr/>
        </p:nvSpPr>
        <p:spPr>
          <a:xfrm>
            <a:off x="7943850" y="2238375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8BB02926-2591-4780-96F7-09B7E2C335E8}"/>
              </a:ext>
            </a:extLst>
          </p:cNvPr>
          <p:cNvSpPr>
            <a:spLocks noGrp="1"/>
          </p:cNvSpPr>
          <p:nvPr/>
        </p:nvSpPr>
        <p:spPr>
          <a:xfrm>
            <a:off x="7943850" y="2238375"/>
            <a:ext cx="2095500" cy="47625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6E0643F-41C1-4A10-BD2A-3E8C235454BF}"/>
              </a:ext>
            </a:extLst>
          </p:cNvPr>
          <p:cNvSpPr>
            <a:spLocks noGrp="1"/>
          </p:cNvSpPr>
          <p:nvPr/>
        </p:nvSpPr>
        <p:spPr>
          <a:xfrm>
            <a:off x="8115300" y="2486025"/>
            <a:ext cx="1752600" cy="3810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24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%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4F72B74B-AB26-405E-B0F0-0CBA5714F560}"/>
              </a:ext>
            </a:extLst>
          </p:cNvPr>
          <p:cNvSpPr>
            <a:spLocks noGrp="1"/>
          </p:cNvSpPr>
          <p:nvPr/>
        </p:nvSpPr>
        <p:spPr>
          <a:xfrm>
            <a:off x="8115300" y="2867025"/>
            <a:ext cx="17526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Resolução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13086519-7A9F-4B7C-8264-437F3662E005}"/>
              </a:ext>
            </a:extLst>
          </p:cNvPr>
          <p:cNvSpPr>
            <a:spLocks noGrp="1"/>
          </p:cNvSpPr>
          <p:nvPr/>
        </p:nvSpPr>
        <p:spPr>
          <a:xfrm>
            <a:off x="8115300" y="3105150"/>
            <a:ext cx="1752600" cy="2095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taxa de conclusão por base</a:t>
            </a:r>
          </a:p>
        </p:txBody>
      </p:sp>
      <p:sp>
        <p:nvSpPr>
          <p:cNvPr id="28" name="Retângulo Arredondado 27">
            <a:extLst>
              <a:ext uri="{FF2B5EF4-FFF2-40B4-BE49-F238E27FC236}">
                <a16:creationId xmlns:a16="http://schemas.microsoft.com/office/drawing/2014/main" id="{E9A21CB6-C2CC-4CFB-9C42-BF0050617820}"/>
              </a:ext>
            </a:extLst>
          </p:cNvPr>
          <p:cNvSpPr>
            <a:spLocks noGrp="1"/>
          </p:cNvSpPr>
          <p:nvPr/>
        </p:nvSpPr>
        <p:spPr>
          <a:xfrm>
            <a:off x="742950" y="3952875"/>
            <a:ext cx="504825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10752412-EC8A-4268-A60F-78C1DFDE4E24}"/>
              </a:ext>
            </a:extLst>
          </p:cNvPr>
          <p:cNvSpPr>
            <a:spLocks noGrp="1"/>
          </p:cNvSpPr>
          <p:nvPr/>
        </p:nvSpPr>
        <p:spPr>
          <a:xfrm>
            <a:off x="952500" y="4114800"/>
            <a:ext cx="2476500" cy="2476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Distribuição por categoria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D19A2F5D-2739-44A8-86E6-CF33AD5EDE1C}"/>
              </a:ext>
            </a:extLst>
          </p:cNvPr>
          <p:cNvSpPr>
            <a:spLocks noGrp="1"/>
          </p:cNvSpPr>
          <p:nvPr/>
        </p:nvSpPr>
        <p:spPr>
          <a:xfrm>
            <a:off x="952500" y="4476750"/>
            <a:ext cx="857250" cy="1905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Física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D4E61663-7E75-4FA7-9166-7F2326C7F981}"/>
              </a:ext>
            </a:extLst>
          </p:cNvPr>
          <p:cNvSpPr>
            <a:spLocks noGrp="1"/>
          </p:cNvSpPr>
          <p:nvPr/>
        </p:nvSpPr>
        <p:spPr>
          <a:xfrm>
            <a:off x="1885950" y="4552950"/>
            <a:ext cx="2228850" cy="8572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A25CB5A1-51F0-405A-B393-8DA9BB3E8D53}"/>
              </a:ext>
            </a:extLst>
          </p:cNvPr>
          <p:cNvSpPr>
            <a:spLocks noGrp="1"/>
          </p:cNvSpPr>
          <p:nvPr/>
        </p:nvSpPr>
        <p:spPr>
          <a:xfrm>
            <a:off x="952500" y="4705350"/>
            <a:ext cx="857250" cy="1905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Visual</a:t>
            </a:r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D502FF5F-70F8-465B-8436-8B388D5F39FE}"/>
              </a:ext>
            </a:extLst>
          </p:cNvPr>
          <p:cNvSpPr>
            <a:spLocks noGrp="1"/>
          </p:cNvSpPr>
          <p:nvPr/>
        </p:nvSpPr>
        <p:spPr>
          <a:xfrm>
            <a:off x="1885950" y="4781550"/>
            <a:ext cx="1371600" cy="85725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D0E09D3E-C213-4468-A5A5-82F350609466}"/>
              </a:ext>
            </a:extLst>
          </p:cNvPr>
          <p:cNvSpPr>
            <a:spLocks noGrp="1"/>
          </p:cNvSpPr>
          <p:nvPr/>
        </p:nvSpPr>
        <p:spPr>
          <a:xfrm>
            <a:off x="952500" y="4933950"/>
            <a:ext cx="857250" cy="1905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Auditiva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9AD22BFE-689C-4B49-AB22-B998C299C4CD}"/>
              </a:ext>
            </a:extLst>
          </p:cNvPr>
          <p:cNvSpPr>
            <a:spLocks noGrp="1"/>
          </p:cNvSpPr>
          <p:nvPr/>
        </p:nvSpPr>
        <p:spPr>
          <a:xfrm>
            <a:off x="1885950" y="5010150"/>
            <a:ext cx="1028700" cy="8572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8B511D79-C4E5-4293-B170-DA4A98C905E0}"/>
              </a:ext>
            </a:extLst>
          </p:cNvPr>
          <p:cNvSpPr>
            <a:spLocks noGrp="1"/>
          </p:cNvSpPr>
          <p:nvPr/>
        </p:nvSpPr>
        <p:spPr>
          <a:xfrm>
            <a:off x="952500" y="5162550"/>
            <a:ext cx="857250" cy="1905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Outros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CAF69790-C37E-4F03-8633-7C1A87299AD6}"/>
              </a:ext>
            </a:extLst>
          </p:cNvPr>
          <p:cNvSpPr>
            <a:spLocks noGrp="1"/>
          </p:cNvSpPr>
          <p:nvPr/>
        </p:nvSpPr>
        <p:spPr>
          <a:xfrm>
            <a:off x="1885950" y="5238750"/>
            <a:ext cx="714375" cy="85725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38" name="Retângulo Arredondado 37">
            <a:extLst>
              <a:ext uri="{FF2B5EF4-FFF2-40B4-BE49-F238E27FC236}">
                <a16:creationId xmlns:a16="http://schemas.microsoft.com/office/drawing/2014/main" id="{311EBC71-2813-49E6-9400-A76BFDAF2E00}"/>
              </a:ext>
            </a:extLst>
          </p:cNvPr>
          <p:cNvSpPr>
            <a:spLocks noGrp="1"/>
          </p:cNvSpPr>
          <p:nvPr/>
        </p:nvSpPr>
        <p:spPr>
          <a:xfrm>
            <a:off x="6305550" y="3952875"/>
            <a:ext cx="4381500" cy="1476375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F3469012-2310-4026-9FC0-068DB181651B}"/>
              </a:ext>
            </a:extLst>
          </p:cNvPr>
          <p:cNvSpPr>
            <a:spLocks noGrp="1"/>
          </p:cNvSpPr>
          <p:nvPr/>
        </p:nvSpPr>
        <p:spPr>
          <a:xfrm>
            <a:off x="6515100" y="4114800"/>
            <a:ext cx="2476500" cy="2476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Fluxo mensal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FE6EAD50-A00E-43E1-8B69-CEF43E68234C}"/>
              </a:ext>
            </a:extLst>
          </p:cNvPr>
          <p:cNvSpPr>
            <a:spLocks noGrp="1"/>
          </p:cNvSpPr>
          <p:nvPr/>
        </p:nvSpPr>
        <p:spPr>
          <a:xfrm>
            <a:off x="6572250" y="5095875"/>
            <a:ext cx="714375" cy="2857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3D8FDCA8-47C6-4857-BEFB-D8DE6C30DE2F}"/>
              </a:ext>
            </a:extLst>
          </p:cNvPr>
          <p:cNvSpPr>
            <a:spLocks noGrp="1"/>
          </p:cNvSpPr>
          <p:nvPr/>
        </p:nvSpPr>
        <p:spPr>
          <a:xfrm>
            <a:off x="7286625" y="4905375"/>
            <a:ext cx="714375" cy="2857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id="{7FD23967-0EE4-48B0-8B51-C8754779A6DB}"/>
              </a:ext>
            </a:extLst>
          </p:cNvPr>
          <p:cNvSpPr>
            <a:spLocks noGrp="1"/>
          </p:cNvSpPr>
          <p:nvPr/>
        </p:nvSpPr>
        <p:spPr>
          <a:xfrm>
            <a:off x="8001000" y="5000625"/>
            <a:ext cx="714375" cy="2857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C022F004-BE4E-4BE5-86A0-946A2ADB407A}"/>
              </a:ext>
            </a:extLst>
          </p:cNvPr>
          <p:cNvSpPr>
            <a:spLocks noGrp="1"/>
          </p:cNvSpPr>
          <p:nvPr/>
        </p:nvSpPr>
        <p:spPr>
          <a:xfrm>
            <a:off x="8715375" y="4572000"/>
            <a:ext cx="714375" cy="2857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4C83C44C-5A9E-4695-A1B2-3E1BD4784D1B}"/>
              </a:ext>
            </a:extLst>
          </p:cNvPr>
          <p:cNvSpPr>
            <a:spLocks noGrp="1"/>
          </p:cNvSpPr>
          <p:nvPr/>
        </p:nvSpPr>
        <p:spPr>
          <a:xfrm>
            <a:off x="9429750" y="4667250"/>
            <a:ext cx="714375" cy="2857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45" name="Retângulo Arredondado 44">
            <a:extLst>
              <a:ext uri="{FF2B5EF4-FFF2-40B4-BE49-F238E27FC236}">
                <a16:creationId xmlns:a16="http://schemas.microsoft.com/office/drawing/2014/main" id="{FDAE9AC9-E344-4496-9D1B-F1FDEAEFD180}"/>
              </a:ext>
            </a:extLst>
          </p:cNvPr>
          <p:cNvSpPr>
            <a:spLocks noGrp="1"/>
          </p:cNvSpPr>
          <p:nvPr/>
        </p:nvSpPr>
        <p:spPr>
          <a:xfrm>
            <a:off x="6524625" y="5048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6" name="Retângulo Arredondado 45">
            <a:extLst>
              <a:ext uri="{FF2B5EF4-FFF2-40B4-BE49-F238E27FC236}">
                <a16:creationId xmlns:a16="http://schemas.microsoft.com/office/drawing/2014/main" id="{0B701DCF-2BB1-41B3-9BDC-7231F1E4D85D}"/>
              </a:ext>
            </a:extLst>
          </p:cNvPr>
          <p:cNvSpPr>
            <a:spLocks noGrp="1"/>
          </p:cNvSpPr>
          <p:nvPr/>
        </p:nvSpPr>
        <p:spPr>
          <a:xfrm>
            <a:off x="7239000" y="48577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7" name="Retângulo Arredondado 46">
            <a:extLst>
              <a:ext uri="{FF2B5EF4-FFF2-40B4-BE49-F238E27FC236}">
                <a16:creationId xmlns:a16="http://schemas.microsoft.com/office/drawing/2014/main" id="{AB5EE9CF-9CD0-43A1-B4B2-352A96E43B72}"/>
              </a:ext>
            </a:extLst>
          </p:cNvPr>
          <p:cNvSpPr>
            <a:spLocks noGrp="1"/>
          </p:cNvSpPr>
          <p:nvPr/>
        </p:nvSpPr>
        <p:spPr>
          <a:xfrm>
            <a:off x="7953375" y="49530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8" name="Retângulo Arredondado 47">
            <a:extLst>
              <a:ext uri="{FF2B5EF4-FFF2-40B4-BE49-F238E27FC236}">
                <a16:creationId xmlns:a16="http://schemas.microsoft.com/office/drawing/2014/main" id="{7CEB2B68-6B3F-4628-8F73-AB2EA9E552ED}"/>
              </a:ext>
            </a:extLst>
          </p:cNvPr>
          <p:cNvSpPr>
            <a:spLocks noGrp="1"/>
          </p:cNvSpPr>
          <p:nvPr/>
        </p:nvSpPr>
        <p:spPr>
          <a:xfrm>
            <a:off x="8667750" y="45243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49" name="Retângulo Arredondado 48">
            <a:extLst>
              <a:ext uri="{FF2B5EF4-FFF2-40B4-BE49-F238E27FC236}">
                <a16:creationId xmlns:a16="http://schemas.microsoft.com/office/drawing/2014/main" id="{F6AD562C-24A4-4236-A50A-D6BE1A55E2EE}"/>
              </a:ext>
            </a:extLst>
          </p:cNvPr>
          <p:cNvSpPr>
            <a:spLocks noGrp="1"/>
          </p:cNvSpPr>
          <p:nvPr/>
        </p:nvSpPr>
        <p:spPr>
          <a:xfrm>
            <a:off x="9382125" y="4619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  <p:sp>
        <p:nvSpPr>
          <p:cNvPr id="50" name="Retângulo Arredondado 49">
            <a:extLst>
              <a:ext uri="{FF2B5EF4-FFF2-40B4-BE49-F238E27FC236}">
                <a16:creationId xmlns:a16="http://schemas.microsoft.com/office/drawing/2014/main" id="{44055410-7F28-4C5F-B788-B349811D43B6}"/>
              </a:ext>
            </a:extLst>
          </p:cNvPr>
          <p:cNvSpPr>
            <a:spLocks noGrp="1"/>
          </p:cNvSpPr>
          <p:nvPr/>
        </p:nvSpPr>
        <p:spPr>
          <a:xfrm>
            <a:off x="10096500" y="42862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9525">
            <a:solidFill>
              <a:srgbClr val="2563E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9227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tângulo 38">
            <a:extLst>
              <a:ext uri="{FF2B5EF4-FFF2-40B4-BE49-F238E27FC236}">
                <a16:creationId xmlns:a16="http://schemas.microsoft.com/office/drawing/2014/main" id="{D678090E-8A98-4C03-802E-75F37C496DEC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52450" cy="571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7802A8-3CA3-4051-90B9-244BF2E3D165}"/>
              </a:ext>
            </a:extLst>
          </p:cNvPr>
          <p:cNvSpPr>
            <a:spLocks noGrp="1"/>
          </p:cNvSpPr>
          <p:nvPr/>
        </p:nvSpPr>
        <p:spPr>
          <a:xfrm>
            <a:off x="1295400" y="371475"/>
            <a:ext cx="3429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IA APLICADA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3D84723-694A-444F-9E27-960B4EE3BACF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9620250" cy="933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 IA prioriza chamados sem substituir o servidor público.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2BCB92E-A545-4511-B273-46C27064E070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93345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 pipeline combina MVP explicável no dashboard e classificação generativa em implantação.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CDE2DCFF-0CB6-4CD6-A355-57ACBFA5E3DD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1085850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E110D7A-D274-4D34-8AC8-A926279CD165}"/>
              </a:ext>
            </a:extLst>
          </p:cNvPr>
          <p:cNvSpPr>
            <a:spLocks noGrp="1"/>
          </p:cNvSpPr>
          <p:nvPr/>
        </p:nvSpPr>
        <p:spPr>
          <a:xfrm>
            <a:off x="666750" y="6381750"/>
            <a:ext cx="5334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94E546C-40CF-44D8-9E25-DA9A21F1DAF7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105A381D-5C05-4E2D-ADAF-5BB44EF83A50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A7EA87B-99AF-426C-98B4-D6255C03A451}"/>
              </a:ext>
            </a:extLst>
          </p:cNvPr>
          <p:cNvSpPr>
            <a:spLocks noGrp="1"/>
          </p:cNvSpPr>
          <p:nvPr/>
        </p:nvSpPr>
        <p:spPr>
          <a:xfrm>
            <a:off x="800100" y="2628900"/>
            <a:ext cx="1485900" cy="3048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Protocolo criado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22E8AEF-7C3A-4A56-B652-33526091B8D1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1714500" cy="47625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7BAAD40-61D3-4659-A494-D6F3B89F7F48}"/>
              </a:ext>
            </a:extLst>
          </p:cNvPr>
          <p:cNvSpPr>
            <a:spLocks noGrp="1"/>
          </p:cNvSpPr>
          <p:nvPr/>
        </p:nvSpPr>
        <p:spPr>
          <a:xfrm>
            <a:off x="2438400" y="2781300"/>
            <a:ext cx="476250" cy="28575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571E589C-1A84-4D4B-A20D-FA560408B632}"/>
              </a:ext>
            </a:extLst>
          </p:cNvPr>
          <p:cNvSpPr>
            <a:spLocks noGrp="1"/>
          </p:cNvSpPr>
          <p:nvPr/>
        </p:nvSpPr>
        <p:spPr>
          <a:xfrm>
            <a:off x="2924175" y="2333625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1290D9C-BA9A-4A97-9EEB-C914E99A4FB2}"/>
              </a:ext>
            </a:extLst>
          </p:cNvPr>
          <p:cNvSpPr>
            <a:spLocks noGrp="1"/>
          </p:cNvSpPr>
          <p:nvPr/>
        </p:nvSpPr>
        <p:spPr>
          <a:xfrm>
            <a:off x="3038475" y="2628900"/>
            <a:ext cx="1485900" cy="3048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Job assíncrono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FA27A4D-48E9-4BB0-B573-462B74628EC3}"/>
              </a:ext>
            </a:extLst>
          </p:cNvPr>
          <p:cNvSpPr>
            <a:spLocks noGrp="1"/>
          </p:cNvSpPr>
          <p:nvPr/>
        </p:nvSpPr>
        <p:spPr>
          <a:xfrm>
            <a:off x="2924175" y="2333625"/>
            <a:ext cx="1714500" cy="47625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6FFE967-0A74-473A-B34C-C626BC87697E}"/>
              </a:ext>
            </a:extLst>
          </p:cNvPr>
          <p:cNvSpPr>
            <a:spLocks noGrp="1"/>
          </p:cNvSpPr>
          <p:nvPr/>
        </p:nvSpPr>
        <p:spPr>
          <a:xfrm>
            <a:off x="4676775" y="2781300"/>
            <a:ext cx="476250" cy="28575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A88FFC79-B992-4E37-AFEC-8153B162CC3D}"/>
              </a:ext>
            </a:extLst>
          </p:cNvPr>
          <p:cNvSpPr>
            <a:spLocks noGrp="1"/>
          </p:cNvSpPr>
          <p:nvPr/>
        </p:nvSpPr>
        <p:spPr>
          <a:xfrm>
            <a:off x="5162550" y="2333625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461988E-5E27-42A7-93FB-0E9682E5A82C}"/>
              </a:ext>
            </a:extLst>
          </p:cNvPr>
          <p:cNvSpPr>
            <a:spLocks noGrp="1"/>
          </p:cNvSpPr>
          <p:nvPr/>
        </p:nvSpPr>
        <p:spPr>
          <a:xfrm>
            <a:off x="5276850" y="2628900"/>
            <a:ext cx="1485900" cy="3048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Edge Function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7B15F34C-B852-4629-8AAF-6A8A969098F3}"/>
              </a:ext>
            </a:extLst>
          </p:cNvPr>
          <p:cNvSpPr>
            <a:spLocks noGrp="1"/>
          </p:cNvSpPr>
          <p:nvPr/>
        </p:nvSpPr>
        <p:spPr>
          <a:xfrm>
            <a:off x="5162550" y="2333625"/>
            <a:ext cx="1714500" cy="47625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CDE0E20B-5F43-4285-9AF2-F22644C3145D}"/>
              </a:ext>
            </a:extLst>
          </p:cNvPr>
          <p:cNvSpPr>
            <a:spLocks noGrp="1"/>
          </p:cNvSpPr>
          <p:nvPr/>
        </p:nvSpPr>
        <p:spPr>
          <a:xfrm>
            <a:off x="6915150" y="2781300"/>
            <a:ext cx="476250" cy="28575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20" name="Retângulo Arredondado 19">
            <a:extLst>
              <a:ext uri="{FF2B5EF4-FFF2-40B4-BE49-F238E27FC236}">
                <a16:creationId xmlns:a16="http://schemas.microsoft.com/office/drawing/2014/main" id="{2BB6752F-3196-450C-A506-E074CF074156}"/>
              </a:ext>
            </a:extLst>
          </p:cNvPr>
          <p:cNvSpPr>
            <a:spLocks noGrp="1"/>
          </p:cNvSpPr>
          <p:nvPr/>
        </p:nvSpPr>
        <p:spPr>
          <a:xfrm>
            <a:off x="7400925" y="2333625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783FA79-1915-4C73-8628-A20C2D7D6ABC}"/>
              </a:ext>
            </a:extLst>
          </p:cNvPr>
          <p:cNvSpPr>
            <a:spLocks noGrp="1"/>
          </p:cNvSpPr>
          <p:nvPr/>
        </p:nvSpPr>
        <p:spPr>
          <a:xfrm>
            <a:off x="7515225" y="2628900"/>
            <a:ext cx="1485900" cy="3048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Gemini 2.5 Flash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4AE8FEAE-C011-4E8D-B672-406C76B59776}"/>
              </a:ext>
            </a:extLst>
          </p:cNvPr>
          <p:cNvSpPr>
            <a:spLocks noGrp="1"/>
          </p:cNvSpPr>
          <p:nvPr/>
        </p:nvSpPr>
        <p:spPr>
          <a:xfrm>
            <a:off x="7400925" y="2333625"/>
            <a:ext cx="1714500" cy="47625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A18D38B-2929-4D82-BE89-A57F4BCCF8E8}"/>
              </a:ext>
            </a:extLst>
          </p:cNvPr>
          <p:cNvSpPr>
            <a:spLocks noGrp="1"/>
          </p:cNvSpPr>
          <p:nvPr/>
        </p:nvSpPr>
        <p:spPr>
          <a:xfrm>
            <a:off x="9153525" y="2781300"/>
            <a:ext cx="476250" cy="28575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24" name="Retângulo Arredondado 23">
            <a:extLst>
              <a:ext uri="{FF2B5EF4-FFF2-40B4-BE49-F238E27FC236}">
                <a16:creationId xmlns:a16="http://schemas.microsoft.com/office/drawing/2014/main" id="{AF1CA486-5400-4DB0-8AEB-7DDF36616805}"/>
              </a:ext>
            </a:extLst>
          </p:cNvPr>
          <p:cNvSpPr>
            <a:spLocks noGrp="1"/>
          </p:cNvSpPr>
          <p:nvPr/>
        </p:nvSpPr>
        <p:spPr>
          <a:xfrm>
            <a:off x="9639300" y="2333625"/>
            <a:ext cx="1714500" cy="914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95D420B-9208-46BE-82FC-606EE23F7D89}"/>
              </a:ext>
            </a:extLst>
          </p:cNvPr>
          <p:cNvSpPr>
            <a:spLocks noGrp="1"/>
          </p:cNvSpPr>
          <p:nvPr/>
        </p:nvSpPr>
        <p:spPr>
          <a:xfrm>
            <a:off x="9753600" y="2628900"/>
            <a:ext cx="1485900" cy="3048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75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Prioridade admin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9BE3EB3-288D-48C0-B37E-6B1F0669D0AF}"/>
              </a:ext>
            </a:extLst>
          </p:cNvPr>
          <p:cNvSpPr>
            <a:spLocks noGrp="1"/>
          </p:cNvSpPr>
          <p:nvPr/>
        </p:nvSpPr>
        <p:spPr>
          <a:xfrm>
            <a:off x="9639300" y="2333625"/>
            <a:ext cx="1714500" cy="47625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27" name="Retângulo Arredondado 26">
            <a:extLst>
              <a:ext uri="{FF2B5EF4-FFF2-40B4-BE49-F238E27FC236}">
                <a16:creationId xmlns:a16="http://schemas.microsoft.com/office/drawing/2014/main" id="{A0B3888A-C60D-46B4-975E-4AAB3D55201C}"/>
              </a:ext>
            </a:extLst>
          </p:cNvPr>
          <p:cNvSpPr>
            <a:spLocks noGrp="1"/>
          </p:cNvSpPr>
          <p:nvPr/>
        </p:nvSpPr>
        <p:spPr>
          <a:xfrm>
            <a:off x="1790700" y="3905250"/>
            <a:ext cx="1238250" cy="34290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4E8F1689-C028-4E46-B17C-51713736DA48}"/>
              </a:ext>
            </a:extLst>
          </p:cNvPr>
          <p:cNvSpPr>
            <a:spLocks noGrp="1"/>
          </p:cNvSpPr>
          <p:nvPr/>
        </p:nvSpPr>
        <p:spPr>
          <a:xfrm>
            <a:off x="1790700" y="3952875"/>
            <a:ext cx="1238250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BAIXA</a:t>
            </a:r>
          </a:p>
        </p:txBody>
      </p:sp>
      <p:sp>
        <p:nvSpPr>
          <p:cNvPr id="29" name="Retângulo Arredondado 28">
            <a:extLst>
              <a:ext uri="{FF2B5EF4-FFF2-40B4-BE49-F238E27FC236}">
                <a16:creationId xmlns:a16="http://schemas.microsoft.com/office/drawing/2014/main" id="{5DDBC66E-F544-4451-BEE2-C7C8CC655E52}"/>
              </a:ext>
            </a:extLst>
          </p:cNvPr>
          <p:cNvSpPr>
            <a:spLocks noGrp="1"/>
          </p:cNvSpPr>
          <p:nvPr/>
        </p:nvSpPr>
        <p:spPr>
          <a:xfrm>
            <a:off x="3295650" y="3905250"/>
            <a:ext cx="1238250" cy="34290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7D06322A-1608-4E35-BBFB-0B28F1BBCFB1}"/>
              </a:ext>
            </a:extLst>
          </p:cNvPr>
          <p:cNvSpPr>
            <a:spLocks noGrp="1"/>
          </p:cNvSpPr>
          <p:nvPr/>
        </p:nvSpPr>
        <p:spPr>
          <a:xfrm>
            <a:off x="3295650" y="3952875"/>
            <a:ext cx="1238250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MÉDIA</a:t>
            </a:r>
          </a:p>
        </p:txBody>
      </p:sp>
      <p:sp>
        <p:nvSpPr>
          <p:cNvPr id="31" name="Retângulo Arredondado 30">
            <a:extLst>
              <a:ext uri="{FF2B5EF4-FFF2-40B4-BE49-F238E27FC236}">
                <a16:creationId xmlns:a16="http://schemas.microsoft.com/office/drawing/2014/main" id="{DCEEF55C-4F04-40BE-86AD-05D2F5DC90F1}"/>
              </a:ext>
            </a:extLst>
          </p:cNvPr>
          <p:cNvSpPr>
            <a:spLocks noGrp="1"/>
          </p:cNvSpPr>
          <p:nvPr/>
        </p:nvSpPr>
        <p:spPr>
          <a:xfrm>
            <a:off x="4800600" y="3905250"/>
            <a:ext cx="1238250" cy="342900"/>
          </a:xfrm>
          <a:prstGeom prst="roundRect">
            <a:avLst>
              <a:gd name="adj" fmla="val 16667"/>
            </a:avLst>
          </a:prstGeom>
          <a:solidFill>
            <a:srgbClr val="EA580C"/>
          </a:solidFill>
          <a:ln w="9525">
            <a:solidFill>
              <a:srgbClr val="EA580C"/>
            </a:solidFill>
            <a:prstDash val="solid"/>
          </a:ln>
        </p:spPr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CFA6145-3166-49AB-A191-5482D6C26059}"/>
              </a:ext>
            </a:extLst>
          </p:cNvPr>
          <p:cNvSpPr>
            <a:spLocks noGrp="1"/>
          </p:cNvSpPr>
          <p:nvPr/>
        </p:nvSpPr>
        <p:spPr>
          <a:xfrm>
            <a:off x="4800600" y="3952875"/>
            <a:ext cx="1238250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ALTA</a:t>
            </a:r>
          </a:p>
        </p:txBody>
      </p:sp>
      <p:sp>
        <p:nvSpPr>
          <p:cNvPr id="33" name="Retângulo Arredondado 32">
            <a:extLst>
              <a:ext uri="{FF2B5EF4-FFF2-40B4-BE49-F238E27FC236}">
                <a16:creationId xmlns:a16="http://schemas.microsoft.com/office/drawing/2014/main" id="{9D6F2EA8-1901-4103-96FF-A338B2AF8F29}"/>
              </a:ext>
            </a:extLst>
          </p:cNvPr>
          <p:cNvSpPr>
            <a:spLocks noGrp="1"/>
          </p:cNvSpPr>
          <p:nvPr/>
        </p:nvSpPr>
        <p:spPr>
          <a:xfrm>
            <a:off x="6305550" y="3905250"/>
            <a:ext cx="1333500" cy="34290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C4553862-59E7-4AA9-8F06-559FFBAB83E4}"/>
              </a:ext>
            </a:extLst>
          </p:cNvPr>
          <p:cNvSpPr>
            <a:spLocks noGrp="1"/>
          </p:cNvSpPr>
          <p:nvPr/>
        </p:nvSpPr>
        <p:spPr>
          <a:xfrm>
            <a:off x="6305550" y="3952875"/>
            <a:ext cx="1333500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CRÍTICA</a:t>
            </a:r>
          </a:p>
        </p:txBody>
      </p:sp>
      <p:sp>
        <p:nvSpPr>
          <p:cNvPr id="35" name="Retângulo Arredondado 34">
            <a:extLst>
              <a:ext uri="{FF2B5EF4-FFF2-40B4-BE49-F238E27FC236}">
                <a16:creationId xmlns:a16="http://schemas.microsoft.com/office/drawing/2014/main" id="{2A86C253-BE5C-42CC-B6DF-43B1CF9B1AED}"/>
              </a:ext>
            </a:extLst>
          </p:cNvPr>
          <p:cNvSpPr>
            <a:spLocks noGrp="1"/>
          </p:cNvSpPr>
          <p:nvPr/>
        </p:nvSpPr>
        <p:spPr>
          <a:xfrm>
            <a:off x="7924800" y="3905250"/>
            <a:ext cx="1428750" cy="342900"/>
          </a:xfrm>
          <a:prstGeom prst="roundRect">
            <a:avLst>
              <a:gd name="adj" fmla="val 16667"/>
            </a:avLst>
          </a:prstGeom>
          <a:solidFill>
            <a:srgbClr val="475569"/>
          </a:solidFill>
          <a:ln w="9525">
            <a:solidFill>
              <a:srgbClr val="475569"/>
            </a:solidFill>
            <a:prstDash val="solid"/>
          </a:ln>
        </p:spPr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17925A66-C756-4A66-9388-B69B20B719F1}"/>
              </a:ext>
            </a:extLst>
          </p:cNvPr>
          <p:cNvSpPr>
            <a:spLocks noGrp="1"/>
          </p:cNvSpPr>
          <p:nvPr/>
        </p:nvSpPr>
        <p:spPr>
          <a:xfrm>
            <a:off x="7924800" y="3952875"/>
            <a:ext cx="1428750" cy="228600"/>
          </a:xfrm>
          <a:prstGeom prst="rect">
            <a:avLst/>
          </a:prstGeom>
        </p:spPr>
        <p:txBody>
          <a:bodyPr lIns="95250" tIns="57150" rIns="95250" bIns="57150" anchor="ctr"/>
          <a:lstStyle/>
          <a:p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IA Falhou</a:t>
            </a:r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4C971317-60CA-4576-B17F-60BEEAB7C347}"/>
              </a:ext>
            </a:extLst>
          </p:cNvPr>
          <p:cNvSpPr>
            <a:spLocks noGrp="1"/>
          </p:cNvSpPr>
          <p:nvPr/>
        </p:nvSpPr>
        <p:spPr>
          <a:xfrm>
            <a:off x="1257300" y="4762500"/>
            <a:ext cx="9620250" cy="4953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8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Controles do gestor: regenerar IA, trocar prioridade manualmente, registrar motivo e consultar logs de auditoria.</a:t>
            </a:r>
          </a:p>
        </p:txBody>
      </p:sp>
      <p:sp>
        <p:nvSpPr>
          <p:cNvPr id="38" name="Retângulo 37">
            <a:extLst>
              <a:ext uri="{FF2B5EF4-FFF2-40B4-BE49-F238E27FC236}">
                <a16:creationId xmlns:a16="http://schemas.microsoft.com/office/drawing/2014/main" id="{FEFCF479-79A5-4335-91AB-130A9CABD364}"/>
              </a:ext>
            </a:extLst>
          </p:cNvPr>
          <p:cNvSpPr>
            <a:spLocks noGrp="1"/>
          </p:cNvSpPr>
          <p:nvPr/>
        </p:nvSpPr>
        <p:spPr>
          <a:xfrm>
            <a:off x="1409700" y="5334000"/>
            <a:ext cx="9334500" cy="3619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20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Status realista da etapa: a base técnica está criada; a amarração automática do fluxo produtivo direto via Supabase é o próximo ajuste de integração.</a:t>
            </a:r>
          </a:p>
        </p:txBody>
      </p:sp>
    </p:spTree>
    <p:extLst>
      <p:ext uri="{BB962C8B-B14F-4D97-AF65-F5344CB8AC3E}">
        <p14:creationId xmlns:p14="http://schemas.microsoft.com/office/powerpoint/2010/main" val="1376436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F8D8BEC5-9060-4231-9493-C96A2712B471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52450" cy="571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D4829E5-84E7-4245-B9A5-30B240ADEA73}"/>
              </a:ext>
            </a:extLst>
          </p:cNvPr>
          <p:cNvSpPr>
            <a:spLocks noGrp="1"/>
          </p:cNvSpPr>
          <p:nvPr/>
        </p:nvSpPr>
        <p:spPr>
          <a:xfrm>
            <a:off x="1295400" y="371475"/>
            <a:ext cx="3429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GOVERNANÇA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075E249-8BE6-4260-B035-43D3DA2ADA1D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9620250" cy="933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IA no governo precisa ser explicável, auditável e revisada.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6E61A8D-6C1C-4DAC-A54A-ABA5E9EE7D05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93345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proposta segue o princípio de apoio à decisão, com cuidado de LGPD e segurança desde o MVP.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68B1DA1-86BC-40A2-879E-F98ABD927CA4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1085850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BAB2600-32AD-4921-B440-8EBB392555E4}"/>
              </a:ext>
            </a:extLst>
          </p:cNvPr>
          <p:cNvSpPr>
            <a:spLocks noGrp="1"/>
          </p:cNvSpPr>
          <p:nvPr/>
        </p:nvSpPr>
        <p:spPr>
          <a:xfrm>
            <a:off x="666750" y="6381750"/>
            <a:ext cx="5334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ACBCEB1-432A-46F5-BB63-A1AB08083D4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A51653E5-CD6B-4FB1-ACBC-F080F1578C93}"/>
              </a:ext>
            </a:extLst>
          </p:cNvPr>
          <p:cNvSpPr>
            <a:spLocks noGrp="1"/>
          </p:cNvSpPr>
          <p:nvPr/>
        </p:nvSpPr>
        <p:spPr>
          <a:xfrm>
            <a:off x="742950" y="2238375"/>
            <a:ext cx="5048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457AE6F-8480-4EA3-B322-34F4CF28A6C7}"/>
              </a:ext>
            </a:extLst>
          </p:cNvPr>
          <p:cNvSpPr>
            <a:spLocks noGrp="1"/>
          </p:cNvSpPr>
          <p:nvPr/>
        </p:nvSpPr>
        <p:spPr>
          <a:xfrm>
            <a:off x="742950" y="2238375"/>
            <a:ext cx="66675" cy="12382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0DCA520-C964-4BA6-8439-034A91A5A251}"/>
              </a:ext>
            </a:extLst>
          </p:cNvPr>
          <p:cNvSpPr>
            <a:spLocks noGrp="1"/>
          </p:cNvSpPr>
          <p:nvPr/>
        </p:nvSpPr>
        <p:spPr>
          <a:xfrm>
            <a:off x="952500" y="2409825"/>
            <a:ext cx="4667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LGPD e minimização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4BEE20D8-D5C3-4878-9FA5-697083A2E1D3}"/>
              </a:ext>
            </a:extLst>
          </p:cNvPr>
          <p:cNvSpPr>
            <a:spLocks noGrp="1"/>
          </p:cNvSpPr>
          <p:nvPr/>
        </p:nvSpPr>
        <p:spPr>
          <a:xfrm>
            <a:off x="952500" y="2733675"/>
            <a:ext cx="4667250" cy="6667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Evitar envio de CPF, telefone e dados sensíveis para APIs externas quando não forem necessários.</a:t>
            </a:r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F0D67981-CD7C-4A1D-BBF9-421B757B2E44}"/>
              </a:ext>
            </a:extLst>
          </p:cNvPr>
          <p:cNvSpPr>
            <a:spLocks noGrp="1"/>
          </p:cNvSpPr>
          <p:nvPr/>
        </p:nvSpPr>
        <p:spPr>
          <a:xfrm>
            <a:off x="6400800" y="2238375"/>
            <a:ext cx="5048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15D6CD9-D5F1-4479-BD88-DE7F21DFE56E}"/>
              </a:ext>
            </a:extLst>
          </p:cNvPr>
          <p:cNvSpPr>
            <a:spLocks noGrp="1"/>
          </p:cNvSpPr>
          <p:nvPr/>
        </p:nvSpPr>
        <p:spPr>
          <a:xfrm>
            <a:off x="6400800" y="2238375"/>
            <a:ext cx="66675" cy="123825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6E15079-3B2A-4729-86D7-0FF7F3CB51E6}"/>
              </a:ext>
            </a:extLst>
          </p:cNvPr>
          <p:cNvSpPr>
            <a:spLocks noGrp="1"/>
          </p:cNvSpPr>
          <p:nvPr/>
        </p:nvSpPr>
        <p:spPr>
          <a:xfrm>
            <a:off x="6610350" y="2409825"/>
            <a:ext cx="4667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Humano no processo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3E5EA980-5D14-4E33-A785-8712EDC40B6B}"/>
              </a:ext>
            </a:extLst>
          </p:cNvPr>
          <p:cNvSpPr>
            <a:spLocks noGrp="1"/>
          </p:cNvSpPr>
          <p:nvPr/>
        </p:nvSpPr>
        <p:spPr>
          <a:xfrm>
            <a:off x="6610350" y="2733675"/>
            <a:ext cx="4667250" cy="6667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prioridade sugerida não executa ação administrativa sozinha; o servidor revisa, troca ou regenera.</a:t>
            </a:r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90257B9E-F7CB-4C70-94CC-151DDADBF9BA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5048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4F1B1C6-6431-45B7-A055-F8F6B5C19196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66675" cy="123825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B12B358D-2A43-4A6B-A802-937E15B0DC58}"/>
              </a:ext>
            </a:extLst>
          </p:cNvPr>
          <p:cNvSpPr>
            <a:spLocks noGrp="1"/>
          </p:cNvSpPr>
          <p:nvPr/>
        </p:nvSpPr>
        <p:spPr>
          <a:xfrm>
            <a:off x="952500" y="4029075"/>
            <a:ext cx="4667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Auditoria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A8BA11E-FEFA-4DD0-9524-9B398840869C}"/>
              </a:ext>
            </a:extLst>
          </p:cNvPr>
          <p:cNvSpPr>
            <a:spLocks noGrp="1"/>
          </p:cNvSpPr>
          <p:nvPr/>
        </p:nvSpPr>
        <p:spPr>
          <a:xfrm>
            <a:off x="952500" y="4352925"/>
            <a:ext cx="4667250" cy="6667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Tabelas ai_priority_jobs e ai_job_logs registram tentativas, origem da decisão, motivo e histórico.</a:t>
            </a:r>
          </a:p>
        </p:txBody>
      </p:sp>
      <p:sp>
        <p:nvSpPr>
          <p:cNvPr id="20" name="Retângulo Arredondado 19">
            <a:extLst>
              <a:ext uri="{FF2B5EF4-FFF2-40B4-BE49-F238E27FC236}">
                <a16:creationId xmlns:a16="http://schemas.microsoft.com/office/drawing/2014/main" id="{62455974-E063-4BCB-9598-CA3ADDC1B400}"/>
              </a:ext>
            </a:extLst>
          </p:cNvPr>
          <p:cNvSpPr>
            <a:spLocks noGrp="1"/>
          </p:cNvSpPr>
          <p:nvPr/>
        </p:nvSpPr>
        <p:spPr>
          <a:xfrm>
            <a:off x="6400800" y="3857625"/>
            <a:ext cx="5048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F98FA63B-3A75-41D6-98FC-E705E081DA68}"/>
              </a:ext>
            </a:extLst>
          </p:cNvPr>
          <p:cNvSpPr>
            <a:spLocks noGrp="1"/>
          </p:cNvSpPr>
          <p:nvPr/>
        </p:nvSpPr>
        <p:spPr>
          <a:xfrm>
            <a:off x="6400800" y="3857625"/>
            <a:ext cx="66675" cy="123825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3DFE092-E767-4FD0-B990-2A7DF04AA159}"/>
              </a:ext>
            </a:extLst>
          </p:cNvPr>
          <p:cNvSpPr>
            <a:spLocks noGrp="1"/>
          </p:cNvSpPr>
          <p:nvPr/>
        </p:nvSpPr>
        <p:spPr>
          <a:xfrm>
            <a:off x="6610350" y="4029075"/>
            <a:ext cx="4667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Resiliência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F57400CA-E79D-461F-A5CF-3F8BD739A378}"/>
              </a:ext>
            </a:extLst>
          </p:cNvPr>
          <p:cNvSpPr>
            <a:spLocks noGrp="1"/>
          </p:cNvSpPr>
          <p:nvPr/>
        </p:nvSpPr>
        <p:spPr>
          <a:xfrm>
            <a:off x="6610350" y="4352925"/>
            <a:ext cx="4667250" cy="6667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Falha de IA não bloqueia o protocolo; o sistema mostra aviso e mantém alternativa manual.</a:t>
            </a:r>
          </a:p>
        </p:txBody>
      </p:sp>
    </p:spTree>
    <p:extLst>
      <p:ext uri="{BB962C8B-B14F-4D97-AF65-F5344CB8AC3E}">
        <p14:creationId xmlns:p14="http://schemas.microsoft.com/office/powerpoint/2010/main" val="2037620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D53FE7BE-14B5-4CF8-B30B-853A9E3E0213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52450" cy="571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4DA940D-7933-4200-BDDB-8D1FE2DC0BB3}"/>
              </a:ext>
            </a:extLst>
          </p:cNvPr>
          <p:cNvSpPr>
            <a:spLocks noGrp="1"/>
          </p:cNvSpPr>
          <p:nvPr/>
        </p:nvSpPr>
        <p:spPr>
          <a:xfrm>
            <a:off x="1295400" y="371475"/>
            <a:ext cx="3429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CRONOGRAMA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0D61785-973D-4055-9B8B-846865F8198B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9620250" cy="933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O avanço de dados e IA foi concentrado nesta etapa da entrega.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5FE1567-0ACF-427E-A51E-B1AA870A0AC1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93345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próxima fase foca validação, integração final e melhoria da base analítica.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2229C87-0094-4DD5-A9A6-D0C2CB0A16D1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1085850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F7BF02EE-8387-4B8D-836B-F9B120A9EF1D}"/>
              </a:ext>
            </a:extLst>
          </p:cNvPr>
          <p:cNvSpPr>
            <a:spLocks noGrp="1"/>
          </p:cNvSpPr>
          <p:nvPr/>
        </p:nvSpPr>
        <p:spPr>
          <a:xfrm>
            <a:off x="666750" y="6381750"/>
            <a:ext cx="5334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57045C1-641B-4A67-988C-D22066C29709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C07D1838-A0EF-4059-86A0-FA83E4E83C53}"/>
              </a:ext>
            </a:extLst>
          </p:cNvPr>
          <p:cNvSpPr>
            <a:spLocks noGrp="1"/>
          </p:cNvSpPr>
          <p:nvPr/>
        </p:nvSpPr>
        <p:spPr>
          <a:xfrm>
            <a:off x="857250" y="2095500"/>
            <a:ext cx="10287000" cy="47625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32CC5AD-5A8F-4775-A6A4-9148947475BD}"/>
              </a:ext>
            </a:extLst>
          </p:cNvPr>
          <p:cNvSpPr>
            <a:spLocks noGrp="1"/>
          </p:cNvSpPr>
          <p:nvPr/>
        </p:nvSpPr>
        <p:spPr>
          <a:xfrm>
            <a:off x="1066800" y="2219325"/>
            <a:ext cx="11430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Fev-Mar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3C85A57-7CD8-4893-9EEB-868B1E7A1DE1}"/>
              </a:ext>
            </a:extLst>
          </p:cNvPr>
          <p:cNvSpPr>
            <a:spLocks noGrp="1"/>
          </p:cNvSpPr>
          <p:nvPr/>
        </p:nvSpPr>
        <p:spPr>
          <a:xfrm>
            <a:off x="2476500" y="2219325"/>
            <a:ext cx="142875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Concluído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CD00C44-ED09-4DFD-A91A-DDADCFB29490}"/>
              </a:ext>
            </a:extLst>
          </p:cNvPr>
          <p:cNvSpPr>
            <a:spLocks noGrp="1"/>
          </p:cNvSpPr>
          <p:nvPr/>
        </p:nvSpPr>
        <p:spPr>
          <a:xfrm>
            <a:off x="4095750" y="2219325"/>
            <a:ext cx="64770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problema, backlog e jornada</a:t>
            </a:r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765BB064-47A7-45AC-9417-B020DBED6C79}"/>
              </a:ext>
            </a:extLst>
          </p:cNvPr>
          <p:cNvSpPr>
            <a:spLocks noGrp="1"/>
          </p:cNvSpPr>
          <p:nvPr/>
        </p:nvSpPr>
        <p:spPr>
          <a:xfrm>
            <a:off x="857250" y="2705100"/>
            <a:ext cx="1028700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3B6BBB9-D2F8-4707-BB8E-9DAA92D8FB51}"/>
              </a:ext>
            </a:extLst>
          </p:cNvPr>
          <p:cNvSpPr>
            <a:spLocks noGrp="1"/>
          </p:cNvSpPr>
          <p:nvPr/>
        </p:nvSpPr>
        <p:spPr>
          <a:xfrm>
            <a:off x="1066800" y="2828925"/>
            <a:ext cx="11430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Abr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2A97012-6D05-4D79-810F-55218CAD85D5}"/>
              </a:ext>
            </a:extLst>
          </p:cNvPr>
          <p:cNvSpPr>
            <a:spLocks noGrp="1"/>
          </p:cNvSpPr>
          <p:nvPr/>
        </p:nvSpPr>
        <p:spPr>
          <a:xfrm>
            <a:off x="2476500" y="2828925"/>
            <a:ext cx="142875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Concluído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2BDD00E-19B5-4751-B625-624F61BBF90E}"/>
              </a:ext>
            </a:extLst>
          </p:cNvPr>
          <p:cNvSpPr>
            <a:spLocks noGrp="1"/>
          </p:cNvSpPr>
          <p:nvPr/>
        </p:nvSpPr>
        <p:spPr>
          <a:xfrm>
            <a:off x="4095750" y="2828925"/>
            <a:ext cx="64770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frontend, login, protocolos e mapas</a:t>
            </a:r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0E1EDBDD-D0D6-4EB5-A1E3-007DCBF90E46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0287000" cy="47625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ADBB1B85-DC16-47D3-9487-3D380FC7C453}"/>
              </a:ext>
            </a:extLst>
          </p:cNvPr>
          <p:cNvSpPr>
            <a:spLocks noGrp="1"/>
          </p:cNvSpPr>
          <p:nvPr/>
        </p:nvSpPr>
        <p:spPr>
          <a:xfrm>
            <a:off x="1066800" y="3438525"/>
            <a:ext cx="11430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Maio 05</a:t>
            </a: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4263EA31-B539-4316-88D8-E7DCD142BF21}"/>
              </a:ext>
            </a:extLst>
          </p:cNvPr>
          <p:cNvSpPr>
            <a:spLocks noGrp="1"/>
          </p:cNvSpPr>
          <p:nvPr/>
        </p:nvSpPr>
        <p:spPr>
          <a:xfrm>
            <a:off x="2476500" y="3438525"/>
            <a:ext cx="142875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Concluído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E290ED4-1A62-4CCD-B8F1-99ACA01B5087}"/>
              </a:ext>
            </a:extLst>
          </p:cNvPr>
          <p:cNvSpPr>
            <a:spLocks noGrp="1"/>
          </p:cNvSpPr>
          <p:nvPr/>
        </p:nvSpPr>
        <p:spPr>
          <a:xfrm>
            <a:off x="4095750" y="3438525"/>
            <a:ext cx="64770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mentoria EGESP e ajuste de foco em dados/IA</a:t>
            </a:r>
          </a:p>
        </p:txBody>
      </p:sp>
      <p:sp>
        <p:nvSpPr>
          <p:cNvPr id="20" name="Retângulo Arredondado 19">
            <a:extLst>
              <a:ext uri="{FF2B5EF4-FFF2-40B4-BE49-F238E27FC236}">
                <a16:creationId xmlns:a16="http://schemas.microsoft.com/office/drawing/2014/main" id="{2AA036A9-46FC-44BB-893F-56763927E678}"/>
              </a:ext>
            </a:extLst>
          </p:cNvPr>
          <p:cNvSpPr>
            <a:spLocks noGrp="1"/>
          </p:cNvSpPr>
          <p:nvPr/>
        </p:nvSpPr>
        <p:spPr>
          <a:xfrm>
            <a:off x="857250" y="3924300"/>
            <a:ext cx="1028700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8DBA8FDD-2447-489C-A090-565A9CA38E36}"/>
              </a:ext>
            </a:extLst>
          </p:cNvPr>
          <p:cNvSpPr>
            <a:spLocks noGrp="1"/>
          </p:cNvSpPr>
          <p:nvPr/>
        </p:nvSpPr>
        <p:spPr>
          <a:xfrm>
            <a:off x="1066800" y="4048125"/>
            <a:ext cx="11430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Maio 22-25</a:t>
            </a:r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CB83B14-2D8B-4978-BD15-B997747D23E8}"/>
              </a:ext>
            </a:extLst>
          </p:cNvPr>
          <p:cNvSpPr>
            <a:spLocks noGrp="1"/>
          </p:cNvSpPr>
          <p:nvPr/>
        </p:nvSpPr>
        <p:spPr>
          <a:xfrm>
            <a:off x="2476500" y="4048125"/>
            <a:ext cx="142875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0596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59669"/>
                </a:solidFill>
                <a:latin typeface="Arial"/>
                <a:ea typeface="Arial"/>
                <a:cs typeface="Arial"/>
              </a:rPr>
              <a:t>Concluído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66AEC1D9-ED97-4733-980F-1D54BF843551}"/>
              </a:ext>
            </a:extLst>
          </p:cNvPr>
          <p:cNvSpPr>
            <a:spLocks noGrp="1"/>
          </p:cNvSpPr>
          <p:nvPr/>
        </p:nvSpPr>
        <p:spPr>
          <a:xfrm>
            <a:off x="4095750" y="4048125"/>
            <a:ext cx="64770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migrations IA, Edge Function, prioridade, logs e materiais</a:t>
            </a:r>
          </a:p>
        </p:txBody>
      </p:sp>
      <p:sp>
        <p:nvSpPr>
          <p:cNvPr id="24" name="Retângulo Arredondado 23">
            <a:extLst>
              <a:ext uri="{FF2B5EF4-FFF2-40B4-BE49-F238E27FC236}">
                <a16:creationId xmlns:a16="http://schemas.microsoft.com/office/drawing/2014/main" id="{A2A75EC2-D39D-40BF-93E7-A3590F9C533D}"/>
              </a:ext>
            </a:extLst>
          </p:cNvPr>
          <p:cNvSpPr>
            <a:spLocks noGrp="1"/>
          </p:cNvSpPr>
          <p:nvPr/>
        </p:nvSpPr>
        <p:spPr>
          <a:xfrm>
            <a:off x="857250" y="4533900"/>
            <a:ext cx="10287000" cy="47625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4C44A424-39F9-4ACF-850E-F51DCB537CAF}"/>
              </a:ext>
            </a:extLst>
          </p:cNvPr>
          <p:cNvSpPr>
            <a:spLocks noGrp="1"/>
          </p:cNvSpPr>
          <p:nvPr/>
        </p:nvSpPr>
        <p:spPr>
          <a:xfrm>
            <a:off x="1066800" y="4657725"/>
            <a:ext cx="11430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Junho</a:t>
            </a:r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639D862-A834-49B8-AC01-27A02463C333}"/>
              </a:ext>
            </a:extLst>
          </p:cNvPr>
          <p:cNvSpPr>
            <a:spLocks noGrp="1"/>
          </p:cNvSpPr>
          <p:nvPr/>
        </p:nvSpPr>
        <p:spPr>
          <a:xfrm>
            <a:off x="2476500" y="4657725"/>
            <a:ext cx="142875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Em andamento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F6A376B-72EA-47FA-B12C-364C5F398878}"/>
              </a:ext>
            </a:extLst>
          </p:cNvPr>
          <p:cNvSpPr>
            <a:spLocks noGrp="1"/>
          </p:cNvSpPr>
          <p:nvPr/>
        </p:nvSpPr>
        <p:spPr>
          <a:xfrm>
            <a:off x="4095750" y="4657725"/>
            <a:ext cx="64770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integração final, geodados e testes</a:t>
            </a:r>
          </a:p>
        </p:txBody>
      </p:sp>
      <p:sp>
        <p:nvSpPr>
          <p:cNvPr id="28" name="Retângulo Arredondado 27">
            <a:extLst>
              <a:ext uri="{FF2B5EF4-FFF2-40B4-BE49-F238E27FC236}">
                <a16:creationId xmlns:a16="http://schemas.microsoft.com/office/drawing/2014/main" id="{48E14A7F-454E-4C86-954A-E607E989E50D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10287000" cy="47625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B8C45165-7A15-44E1-9BCB-B237D98E7904}"/>
              </a:ext>
            </a:extLst>
          </p:cNvPr>
          <p:cNvSpPr>
            <a:spLocks noGrp="1"/>
          </p:cNvSpPr>
          <p:nvPr/>
        </p:nvSpPr>
        <p:spPr>
          <a:xfrm>
            <a:off x="1066800" y="5267325"/>
            <a:ext cx="11430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Julho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BC687A60-7E3B-4DEA-8655-E32BB28B4B09}"/>
              </a:ext>
            </a:extLst>
          </p:cNvPr>
          <p:cNvSpPr>
            <a:spLocks noGrp="1"/>
          </p:cNvSpPr>
          <p:nvPr/>
        </p:nvSpPr>
        <p:spPr>
          <a:xfrm>
            <a:off x="2476500" y="5267325"/>
            <a:ext cx="142875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Futuro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78F7277A-0C7C-4D37-A22E-9BFFBD7B8469}"/>
              </a:ext>
            </a:extLst>
          </p:cNvPr>
          <p:cNvSpPr>
            <a:spLocks noGrp="1"/>
          </p:cNvSpPr>
          <p:nvPr/>
        </p:nvSpPr>
        <p:spPr>
          <a:xfrm>
            <a:off x="4095750" y="5267325"/>
            <a:ext cx="6477000" cy="2286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2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predição de atraso, resumos e validação com usuários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8CE0264B-FF96-4E5E-8757-5C30ED99A513}"/>
              </a:ext>
            </a:extLst>
          </p:cNvPr>
          <p:cNvSpPr>
            <a:spLocks noGrp="1"/>
          </p:cNvSpPr>
          <p:nvPr/>
        </p:nvSpPr>
        <p:spPr>
          <a:xfrm>
            <a:off x="1352550" y="2095500"/>
            <a:ext cx="38100" cy="0"/>
          </a:xfrm>
          <a:prstGeom prst="rect">
            <a:avLst/>
          </a:prstGeom>
        </p:spPr>
      </p:sp>
    </p:spTree>
    <p:extLst>
      <p:ext uri="{BB962C8B-B14F-4D97-AF65-F5344CB8AC3E}">
        <p14:creationId xmlns:p14="http://schemas.microsoft.com/office/powerpoint/2010/main" val="90785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 32">
            <a:extLst>
              <a:ext uri="{FF2B5EF4-FFF2-40B4-BE49-F238E27FC236}">
                <a16:creationId xmlns:a16="http://schemas.microsoft.com/office/drawing/2014/main" id="{0CD1D2C9-F680-4FEB-BDDC-7DA11B765994}"/>
              </a:ext>
            </a:extLst>
          </p:cNvPr>
          <p:cNvSpPr>
            <a:spLocks noGrp="1"/>
          </p:cNvSpPr>
          <p:nvPr/>
        </p:nvSpPr>
        <p:spPr>
          <a:xfrm>
            <a:off x="666750" y="476250"/>
            <a:ext cx="552450" cy="571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6998F90-5C72-478C-872E-DBEA1149F98E}"/>
              </a:ext>
            </a:extLst>
          </p:cNvPr>
          <p:cNvSpPr>
            <a:spLocks noGrp="1"/>
          </p:cNvSpPr>
          <p:nvPr/>
        </p:nvSpPr>
        <p:spPr>
          <a:xfrm>
            <a:off x="1295400" y="371475"/>
            <a:ext cx="3429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563EB"/>
                </a:solidFill>
                <a:latin typeface="Arial"/>
                <a:ea typeface="Arial"/>
                <a:cs typeface="Arial"/>
              </a:rPr>
              <a:t>VÍDEO PITCH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4838A06-D8BF-4B19-98D0-A919A81112DF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9620250" cy="9334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Roteiro de demonstração para cerca de 5 minutos.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9C9E4C2-1ACB-4C45-BB50-219A0A325BD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9334500" cy="4000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Os slides guiam a fala e a navegação nas telas já implementadas.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6A0C001-2982-4E3E-9B9C-BAE215532EC6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1085850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BE0C7F8-5858-4D68-B1F1-997ADD32289F}"/>
              </a:ext>
            </a:extLst>
          </p:cNvPr>
          <p:cNvSpPr>
            <a:spLocks noGrp="1"/>
          </p:cNvSpPr>
          <p:nvPr/>
        </p:nvSpPr>
        <p:spPr>
          <a:xfrm>
            <a:off x="666750" y="6381750"/>
            <a:ext cx="5334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5F24695-6DB0-4EBC-ACDA-266A4492C552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A2F079D6-0513-406C-A267-41A908085B4F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B96453D-3604-4128-B536-4F0FA905D927}"/>
              </a:ext>
            </a:extLst>
          </p:cNvPr>
          <p:cNvSpPr>
            <a:spLocks noGrp="1"/>
          </p:cNvSpPr>
          <p:nvPr/>
        </p:nvSpPr>
        <p:spPr>
          <a:xfrm>
            <a:off x="742950" y="2190750"/>
            <a:ext cx="66675" cy="114300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0F403AF-55D4-49D7-9BB2-09977A33FED6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28575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0:00 - Grupo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F41DBE9-38E5-4DC0-B566-743BA9ECD361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2857500" cy="5715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Apresentar integrantes, projeto e contexto HackGov/FIAP + EGESP.</a:t>
            </a:r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2D038916-567B-48F6-BC60-A9C0B690BB57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026DA0D-FEA6-4366-B8CB-3E66822F5A81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66675" cy="114300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CCBB0AB3-C1ED-4472-881C-4270249F58E8}"/>
              </a:ext>
            </a:extLst>
          </p:cNvPr>
          <p:cNvSpPr>
            <a:spLocks noGrp="1"/>
          </p:cNvSpPr>
          <p:nvPr/>
        </p:nvSpPr>
        <p:spPr>
          <a:xfrm>
            <a:off x="4686300" y="2362200"/>
            <a:ext cx="28575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0:35 - Problema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66A6840-7875-484F-A0FE-F699CA236A8B}"/>
              </a:ext>
            </a:extLst>
          </p:cNvPr>
          <p:cNvSpPr>
            <a:spLocks noGrp="1"/>
          </p:cNvSpPr>
          <p:nvPr/>
        </p:nvSpPr>
        <p:spPr>
          <a:xfrm>
            <a:off x="4686300" y="2686050"/>
            <a:ext cx="2857500" cy="5715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Mostrar por que protocolos sem dados dificultam cidadania e gestão.</a:t>
            </a:r>
          </a:p>
        </p:txBody>
      </p:sp>
      <p:sp>
        <p:nvSpPr>
          <p:cNvPr id="16" name="Retângulo Arredondado 15">
            <a:extLst>
              <a:ext uri="{FF2B5EF4-FFF2-40B4-BE49-F238E27FC236}">
                <a16:creationId xmlns:a16="http://schemas.microsoft.com/office/drawing/2014/main" id="{B7DFDF93-1A92-4F4D-AB1D-B1FC7705DC05}"/>
              </a:ext>
            </a:extLst>
          </p:cNvPr>
          <p:cNvSpPr>
            <a:spLocks noGrp="1"/>
          </p:cNvSpPr>
          <p:nvPr/>
        </p:nvSpPr>
        <p:spPr>
          <a:xfrm>
            <a:off x="8210550" y="2190750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DBDB042-7B5D-4720-999E-54CA04A039AA}"/>
              </a:ext>
            </a:extLst>
          </p:cNvPr>
          <p:cNvSpPr>
            <a:spLocks noGrp="1"/>
          </p:cNvSpPr>
          <p:nvPr/>
        </p:nvSpPr>
        <p:spPr>
          <a:xfrm>
            <a:off x="8210550" y="2190750"/>
            <a:ext cx="66675" cy="11430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90441C3-2F8B-400A-99AF-F3162B45346C}"/>
              </a:ext>
            </a:extLst>
          </p:cNvPr>
          <p:cNvSpPr>
            <a:spLocks noGrp="1"/>
          </p:cNvSpPr>
          <p:nvPr/>
        </p:nvSpPr>
        <p:spPr>
          <a:xfrm>
            <a:off x="8420100" y="2362200"/>
            <a:ext cx="28575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1:20 - Protótipo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AAA012E-4199-492B-AD26-F6D350A84331}"/>
              </a:ext>
            </a:extLst>
          </p:cNvPr>
          <p:cNvSpPr>
            <a:spLocks noGrp="1"/>
          </p:cNvSpPr>
          <p:nvPr/>
        </p:nvSpPr>
        <p:spPr>
          <a:xfrm>
            <a:off x="8420100" y="2686050"/>
            <a:ext cx="2857500" cy="5715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Navegar por login, solicitação, protocolos, mapa e área admin.</a:t>
            </a:r>
          </a:p>
        </p:txBody>
      </p:sp>
      <p:sp>
        <p:nvSpPr>
          <p:cNvPr id="20" name="Retângulo Arredondado 19">
            <a:extLst>
              <a:ext uri="{FF2B5EF4-FFF2-40B4-BE49-F238E27FC236}">
                <a16:creationId xmlns:a16="http://schemas.microsoft.com/office/drawing/2014/main" id="{B8614489-F283-461E-93FC-E109FDC2C9F1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C901A920-A18B-4626-932A-8EA40ED83D34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66675" cy="1143000"/>
          </a:xfrm>
          <a:prstGeom prst="rect">
            <a:avLst/>
          </a:prstGeom>
          <a:solidFill>
            <a:srgbClr val="7C3AED"/>
          </a:solidFill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BFE3D0F1-1969-42CA-BCF7-89997F65BB87}"/>
              </a:ext>
            </a:extLst>
          </p:cNvPr>
          <p:cNvSpPr>
            <a:spLocks noGrp="1"/>
          </p:cNvSpPr>
          <p:nvPr/>
        </p:nvSpPr>
        <p:spPr>
          <a:xfrm>
            <a:off x="952500" y="4029075"/>
            <a:ext cx="28575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2:30 - Dados e IA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5FFBFC98-C30C-4FDD-B65C-C0347026EAA1}"/>
              </a:ext>
            </a:extLst>
          </p:cNvPr>
          <p:cNvSpPr>
            <a:spLocks noGrp="1"/>
          </p:cNvSpPr>
          <p:nvPr/>
        </p:nvSpPr>
        <p:spPr>
          <a:xfrm>
            <a:off x="952500" y="4352925"/>
            <a:ext cx="2857500" cy="5715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Explicar KPIs, dashboard, prioridade IA, logs e revisão humana.</a:t>
            </a:r>
          </a:p>
        </p:txBody>
      </p:sp>
      <p:sp>
        <p:nvSpPr>
          <p:cNvPr id="24" name="Retângulo Arredondado 23">
            <a:extLst>
              <a:ext uri="{FF2B5EF4-FFF2-40B4-BE49-F238E27FC236}">
                <a16:creationId xmlns:a16="http://schemas.microsoft.com/office/drawing/2014/main" id="{3E491FDC-94B2-474A-93E8-6E1AB0D767E0}"/>
              </a:ext>
            </a:extLst>
          </p:cNvPr>
          <p:cNvSpPr>
            <a:spLocks noGrp="1"/>
          </p:cNvSpPr>
          <p:nvPr/>
        </p:nvSpPr>
        <p:spPr>
          <a:xfrm>
            <a:off x="4476750" y="3857625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E369AC0-B1D0-42A3-BA7D-ED7DE86A4B6C}"/>
              </a:ext>
            </a:extLst>
          </p:cNvPr>
          <p:cNvSpPr>
            <a:spLocks noGrp="1"/>
          </p:cNvSpPr>
          <p:nvPr/>
        </p:nvSpPr>
        <p:spPr>
          <a:xfrm>
            <a:off x="4476750" y="3857625"/>
            <a:ext cx="66675" cy="1143000"/>
          </a:xfrm>
          <a:prstGeom prst="rect">
            <a:avLst/>
          </a:prstGeom>
          <a:solidFill>
            <a:srgbClr val="0891B2"/>
          </a:solidFill>
        </p:spPr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23BE4C2D-2F04-4BEC-B7AD-60EB098E1FFD}"/>
              </a:ext>
            </a:extLst>
          </p:cNvPr>
          <p:cNvSpPr>
            <a:spLocks noGrp="1"/>
          </p:cNvSpPr>
          <p:nvPr/>
        </p:nvSpPr>
        <p:spPr>
          <a:xfrm>
            <a:off x="4686300" y="4029075"/>
            <a:ext cx="28575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3:50 - Métodos</a:t>
            </a:r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6E1AF443-1A7F-4888-ACE7-2A7E45D5BB85}"/>
              </a:ext>
            </a:extLst>
          </p:cNvPr>
          <p:cNvSpPr>
            <a:spLocks noGrp="1"/>
          </p:cNvSpPr>
          <p:nvPr/>
        </p:nvSpPr>
        <p:spPr>
          <a:xfrm>
            <a:off x="4686300" y="4352925"/>
            <a:ext cx="2857500" cy="5715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Citar stack, banco, segurança, Edge Function, Gemini e auditoria.</a:t>
            </a:r>
          </a:p>
        </p:txBody>
      </p:sp>
      <p:sp>
        <p:nvSpPr>
          <p:cNvPr id="28" name="Retângulo Arredondado 27">
            <a:extLst>
              <a:ext uri="{FF2B5EF4-FFF2-40B4-BE49-F238E27FC236}">
                <a16:creationId xmlns:a16="http://schemas.microsoft.com/office/drawing/2014/main" id="{BFF03D50-C239-425D-B7CE-E0C7B249206B}"/>
              </a:ext>
            </a:extLst>
          </p:cNvPr>
          <p:cNvSpPr>
            <a:spLocks noGrp="1"/>
          </p:cNvSpPr>
          <p:nvPr/>
        </p:nvSpPr>
        <p:spPr>
          <a:xfrm>
            <a:off x="8210550" y="3857625"/>
            <a:ext cx="323850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7181B5ED-5D8E-4A29-97DE-3D210574FD98}"/>
              </a:ext>
            </a:extLst>
          </p:cNvPr>
          <p:cNvSpPr>
            <a:spLocks noGrp="1"/>
          </p:cNvSpPr>
          <p:nvPr/>
        </p:nvSpPr>
        <p:spPr>
          <a:xfrm>
            <a:off x="8210550" y="3857625"/>
            <a:ext cx="66675" cy="1143000"/>
          </a:xfrm>
          <a:prstGeom prst="rect">
            <a:avLst/>
          </a:prstGeom>
          <a:solidFill>
            <a:srgbClr val="DC2626"/>
          </a:solidFill>
        </p:spPr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54F74B5F-47DB-4F4A-A833-366BF0337A3A}"/>
              </a:ext>
            </a:extLst>
          </p:cNvPr>
          <p:cNvSpPr>
            <a:spLocks noGrp="1"/>
          </p:cNvSpPr>
          <p:nvPr/>
        </p:nvSpPr>
        <p:spPr>
          <a:xfrm>
            <a:off x="8420100" y="4029075"/>
            <a:ext cx="28575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4:35 - Próximos passos</a:t>
            </a:r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59A09370-D71A-416D-9533-24D29491D0EE}"/>
              </a:ext>
            </a:extLst>
          </p:cNvPr>
          <p:cNvSpPr>
            <a:spLocks noGrp="1"/>
          </p:cNvSpPr>
          <p:nvPr/>
        </p:nvSpPr>
        <p:spPr>
          <a:xfrm>
            <a:off x="8420100" y="4352925"/>
            <a:ext cx="2857500" cy="5715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Fechar com cronograma, integração final e evolução analítica.</a:t>
            </a:r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C54B058E-DD48-45BA-8FB3-0AAF631C7757}"/>
              </a:ext>
            </a:extLst>
          </p:cNvPr>
          <p:cNvSpPr>
            <a:spLocks noGrp="1"/>
          </p:cNvSpPr>
          <p:nvPr/>
        </p:nvSpPr>
        <p:spPr>
          <a:xfrm>
            <a:off x="1524000" y="5381625"/>
            <a:ext cx="9144000" cy="3238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ctr">
              <a:defRPr sz="135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Ao gravar, publicar como não listado e substituir o link no arquivo LINK_VIDEO_YOUTUBE.txt.</a:t>
            </a:r>
          </a:p>
        </p:txBody>
      </p:sp>
    </p:spTree>
    <p:extLst>
      <p:ext uri="{BB962C8B-B14F-4D97-AF65-F5344CB8AC3E}">
        <p14:creationId xmlns:p14="http://schemas.microsoft.com/office/powerpoint/2010/main" val="132712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>
            <a:extLst>
              <a:ext uri="{FF2B5EF4-FFF2-40B4-BE49-F238E27FC236}">
                <a16:creationId xmlns:a16="http://schemas.microsoft.com/office/drawing/2014/main" id="{AB4D7B51-9AC9-4CC1-AB3A-5CE6F05BF77B}"/>
              </a:ext>
            </a:extLst>
          </p:cNvPr>
          <p:cNvSpPr>
            <a:spLocks noGrp="1"/>
          </p:cNvSpPr>
          <p:nvPr/>
        </p:nvSpPr>
        <p:spPr>
          <a:xfrm>
            <a:off x="857250" y="704850"/>
            <a:ext cx="819150" cy="66675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F6C4B3F-81FE-4499-B687-788A1438845B}"/>
              </a:ext>
            </a:extLst>
          </p:cNvPr>
          <p:cNvSpPr>
            <a:spLocks noGrp="1"/>
          </p:cNvSpPr>
          <p:nvPr/>
        </p:nvSpPr>
        <p:spPr>
          <a:xfrm>
            <a:off x="1809750" y="561975"/>
            <a:ext cx="2857500" cy="2857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125" b="1">
                <a:solidFill>
                  <a:srgbClr val="93C5F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3C5FD"/>
                </a:solidFill>
                <a:latin typeface="Arial"/>
                <a:ea typeface="Arial"/>
                <a:cs typeface="Arial"/>
              </a:rPr>
              <a:t>FECHAMENTO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A9633D1F-AF3E-4CAB-8C82-A0B8AB505100}"/>
              </a:ext>
            </a:extLst>
          </p:cNvPr>
          <p:cNvSpPr>
            <a:spLocks noGrp="1"/>
          </p:cNvSpPr>
          <p:nvPr/>
        </p:nvSpPr>
        <p:spPr>
          <a:xfrm>
            <a:off x="857250" y="1333500"/>
            <a:ext cx="8858250" cy="125730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protocolo perdido a gestão orientada por dados.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09304FC-03DE-4A86-9E8A-AF553AD1B6D5}"/>
              </a:ext>
            </a:extLst>
          </p:cNvPr>
          <p:cNvSpPr>
            <a:spLocks noGrp="1"/>
          </p:cNvSpPr>
          <p:nvPr/>
        </p:nvSpPr>
        <p:spPr>
          <a:xfrm>
            <a:off x="895350" y="2857500"/>
            <a:ext cx="8572500" cy="819150"/>
          </a:xfrm>
          <a:prstGeom prst="rect">
            <a:avLst/>
          </a:prstGeom>
        </p:spPr>
        <p:txBody>
          <a:bodyPr lIns="0" tIns="0" rIns="0" bIns="0" anchor="t"/>
          <a:lstStyle/>
          <a:p>
            <a:pPr algn="l">
              <a:defRPr sz="180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O Cidadão Informa demonstra front-end, backend, banco de dados, segurança, relatórios e uma trilha concreta de IA para apoiar a triagem pública com transparência.</a:t>
            </a:r>
          </a:p>
        </p:txBody>
      </p:sp>
      <p:sp>
        <p:nvSpPr>
          <p:cNvPr id="5" name="Retângulo Arredondado 4">
            <a:extLst>
              <a:ext uri="{FF2B5EF4-FFF2-40B4-BE49-F238E27FC236}">
                <a16:creationId xmlns:a16="http://schemas.microsoft.com/office/drawing/2014/main" id="{BCA90648-C2AD-46D8-8696-87D78C1946E0}"/>
              </a:ext>
            </a:extLst>
          </p:cNvPr>
          <p:cNvSpPr>
            <a:spLocks noGrp="1"/>
          </p:cNvSpPr>
          <p:nvPr/>
        </p:nvSpPr>
        <p:spPr>
          <a:xfrm>
            <a:off x="904875" y="4267200"/>
            <a:ext cx="2952750" cy="87630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72EA1AF-FCAB-439D-8668-0E53BCEF6F67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2667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Valor público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4C27C01-0136-4D3D-B2AD-A712E1C8837B}"/>
              </a:ext>
            </a:extLst>
          </p:cNvPr>
          <p:cNvSpPr>
            <a:spLocks noGrp="1"/>
          </p:cNvSpPr>
          <p:nvPr/>
        </p:nvSpPr>
        <p:spPr>
          <a:xfrm>
            <a:off x="1047750" y="4781550"/>
            <a:ext cx="2571750" cy="2476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0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resposta mais rápida e acompanhamento claro</a:t>
            </a:r>
          </a:p>
        </p:txBody>
      </p:sp>
      <p:sp>
        <p:nvSpPr>
          <p:cNvPr id="8" name="Retângulo Arredondado 7">
            <a:extLst>
              <a:ext uri="{FF2B5EF4-FFF2-40B4-BE49-F238E27FC236}">
                <a16:creationId xmlns:a16="http://schemas.microsoft.com/office/drawing/2014/main" id="{EA206F0B-2ED8-4FF1-9DFF-8839C0EA25E4}"/>
              </a:ext>
            </a:extLst>
          </p:cNvPr>
          <p:cNvSpPr>
            <a:spLocks noGrp="1"/>
          </p:cNvSpPr>
          <p:nvPr/>
        </p:nvSpPr>
        <p:spPr>
          <a:xfrm>
            <a:off x="4619625" y="4267200"/>
            <a:ext cx="2952750" cy="87630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7F61DE7-3A1B-4FFD-B6E3-F43C10815545}"/>
              </a:ext>
            </a:extLst>
          </p:cNvPr>
          <p:cNvSpPr>
            <a:spLocks noGrp="1"/>
          </p:cNvSpPr>
          <p:nvPr/>
        </p:nvSpPr>
        <p:spPr>
          <a:xfrm>
            <a:off x="4762500" y="4476750"/>
            <a:ext cx="2667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Gestão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AB5A385-F74A-4A3D-B596-620EB890B48E}"/>
              </a:ext>
            </a:extLst>
          </p:cNvPr>
          <p:cNvSpPr>
            <a:spLocks noGrp="1"/>
          </p:cNvSpPr>
          <p:nvPr/>
        </p:nvSpPr>
        <p:spPr>
          <a:xfrm>
            <a:off x="4762500" y="4781550"/>
            <a:ext cx="2571750" cy="2476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0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indicadores, mapa, fila e relatórios</a:t>
            </a:r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03536CEA-8D80-4CD2-908A-0243B4F82028}"/>
              </a:ext>
            </a:extLst>
          </p:cNvPr>
          <p:cNvSpPr>
            <a:spLocks noGrp="1"/>
          </p:cNvSpPr>
          <p:nvPr/>
        </p:nvSpPr>
        <p:spPr>
          <a:xfrm>
            <a:off x="8334375" y="4267200"/>
            <a:ext cx="2952750" cy="876300"/>
          </a:xfrm>
          <a:prstGeom prst="roundRect">
            <a:avLst>
              <a:gd name="adj" fmla="val 8696"/>
            </a:avLst>
          </a:prstGeom>
          <a:solidFill>
            <a:srgbClr val="111827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C638050-404C-4861-AD3E-F9C0966BA7F8}"/>
              </a:ext>
            </a:extLst>
          </p:cNvPr>
          <p:cNvSpPr>
            <a:spLocks noGrp="1"/>
          </p:cNvSpPr>
          <p:nvPr/>
        </p:nvSpPr>
        <p:spPr>
          <a:xfrm>
            <a:off x="8477250" y="4476750"/>
            <a:ext cx="2667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IA responsável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F0DA04A2-EAA8-42DA-8A0A-C2AD98B0C72C}"/>
              </a:ext>
            </a:extLst>
          </p:cNvPr>
          <p:cNvSpPr>
            <a:spLocks noGrp="1"/>
          </p:cNvSpPr>
          <p:nvPr/>
        </p:nvSpPr>
        <p:spPr>
          <a:xfrm>
            <a:off x="8477250" y="4781550"/>
            <a:ext cx="2571750" cy="24765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1050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priorização com auditoria e revisão humana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68D4703-56D2-4A08-92E6-92DCCF32CBD7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10858500" cy="9525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429956A-B393-4CA6-8230-FBC9AB6CF709}"/>
              </a:ext>
            </a:extLst>
          </p:cNvPr>
          <p:cNvSpPr>
            <a:spLocks noGrp="1"/>
          </p:cNvSpPr>
          <p:nvPr/>
        </p:nvSpPr>
        <p:spPr>
          <a:xfrm>
            <a:off x="666750" y="6381750"/>
            <a:ext cx="533400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l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Cidadão Informa | HackGov FIAP | 25/05/2026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B82C739D-AD29-471E-89CC-14A1C07C64FC}"/>
              </a:ext>
            </a:extLst>
          </p:cNvPr>
          <p:cNvSpPr>
            <a:spLocks noGrp="1"/>
          </p:cNvSpPr>
          <p:nvPr/>
        </p:nvSpPr>
        <p:spPr>
          <a:xfrm>
            <a:off x="11049000" y="6381750"/>
            <a:ext cx="476250" cy="266700"/>
          </a:xfrm>
          <a:prstGeom prst="rect">
            <a:avLst/>
          </a:prstGeom>
        </p:spPr>
        <p:txBody>
          <a:bodyPr lIns="95250" tIns="57150" rIns="95250" bIns="57150" anchor="t"/>
          <a:lstStyle/>
          <a:p>
            <a:pPr algn="r">
              <a:defRPr sz="97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321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938</Words>
  <Application>Microsoft Office PowerPoint</Application>
  <DocSecurity>0</DocSecurity>
  <PresentationFormat>Widescreen</PresentationFormat>
  <Paragraphs>164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Luis Gustavo</cp:lastModifiedBy>
  <cp:revision>3</cp:revision>
  <dcterms:created xsi:type="dcterms:W3CDTF">2026-05-25T12:04:28Z</dcterms:created>
  <dcterms:modified xsi:type="dcterms:W3CDTF">2026-05-26T01:49:29Z</dcterms:modified>
</cp:coreProperties>
</file>